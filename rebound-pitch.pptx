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540"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Rescheduling (calendar plumbing)</c:v>
                </c:pt>
              </c:strCache>
            </c:strRef>
          </c:tx>
          <c:spPr>
            <a:solidFill>
              <a:srgbClr val="1E2761"/>
            </a:solidFill>
            <a:effectLst/>
          </c:spPr>
          <c:invertIfNegative val="0"/>
          <c:dLbls>
            <c:numFmt formatCode="0.00&quot;pp&quot;" sourceLinked="0"/>
            <c:spPr>
              <a:noFill/>
              <a:ln>
                <a:noFill/>
              </a:ln>
              <a:effectLst/>
            </c:spPr>
            <c:txPr>
              <a:bodyPr/>
              <a:lstStyle/>
              <a:p>
                <a:pPr>
                  <a:defRPr sz="1000" b="0" i="0" u="none" strike="noStrike">
                    <a:solidFill>
                      <a:srgbClr val="16193B"/>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As shipped</c:v>
                </c:pt>
                <c:pt idx="1">
                  <c:v>Insufficient-funds dominant</c:v>
                </c:pt>
                <c:pt idx="2">
                  <c:v>Technical dominant</c:v>
                </c:pt>
              </c:strCache>
            </c:strRef>
          </c:cat>
          <c:val>
            <c:numRef>
              <c:f>Sheet1!$B$2:$B$4</c:f>
              <c:numCache>
                <c:formatCode>General</c:formatCode>
                <c:ptCount val="3"/>
                <c:pt idx="0">
                  <c:v>6.78</c:v>
                </c:pt>
                <c:pt idx="1">
                  <c:v>6.43</c:v>
                </c:pt>
                <c:pt idx="2">
                  <c:v>5.75</c:v>
                </c:pt>
              </c:numCache>
            </c:numRef>
          </c:val>
          <c:extLst>
            <c:ext xmlns:c16="http://schemas.microsoft.com/office/drawing/2014/chart" uri="{C3380CC4-5D6E-409C-BE32-E72D297353CC}">
              <c16:uniqueId val="{00000000-DDBE-4B91-84FD-384758696812}"/>
            </c:ext>
          </c:extLst>
        </c:ser>
        <c:ser>
          <c:idx val="1"/>
          <c:order val="1"/>
          <c:tx>
            <c:strRef>
              <c:f>Sheet1!$C$1</c:f>
              <c:strCache>
                <c:ptCount val="1"/>
                <c:pt idx="0">
                  <c:v>Retry strategy (intelligence)</c:v>
                </c:pt>
              </c:strCache>
            </c:strRef>
          </c:tx>
          <c:spPr>
            <a:solidFill>
              <a:srgbClr val="9BA5D6"/>
            </a:solidFill>
            <a:effectLst/>
          </c:spPr>
          <c:invertIfNegative val="0"/>
          <c:dLbls>
            <c:numFmt formatCode="0.00&quot;pp&quot;" sourceLinked="0"/>
            <c:spPr>
              <a:noFill/>
              <a:ln>
                <a:noFill/>
              </a:ln>
              <a:effectLst/>
            </c:spPr>
            <c:txPr>
              <a:bodyPr/>
              <a:lstStyle/>
              <a:p>
                <a:pPr>
                  <a:defRPr sz="1000" b="0" i="0" u="none" strike="noStrike">
                    <a:solidFill>
                      <a:srgbClr val="16193B"/>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As shipped</c:v>
                </c:pt>
                <c:pt idx="1">
                  <c:v>Insufficient-funds dominant</c:v>
                </c:pt>
                <c:pt idx="2">
                  <c:v>Technical dominant</c:v>
                </c:pt>
              </c:strCache>
            </c:strRef>
          </c:cat>
          <c:val>
            <c:numRef>
              <c:f>Sheet1!$C$2:$C$4</c:f>
              <c:numCache>
                <c:formatCode>General</c:formatCode>
                <c:ptCount val="3"/>
                <c:pt idx="0">
                  <c:v>1.64</c:v>
                </c:pt>
                <c:pt idx="1">
                  <c:v>3.54</c:v>
                </c:pt>
                <c:pt idx="2">
                  <c:v>0.38</c:v>
                </c:pt>
              </c:numCache>
            </c:numRef>
          </c:val>
          <c:extLst>
            <c:ext xmlns:c16="http://schemas.microsoft.com/office/drawing/2014/chart" uri="{C3380CC4-5D6E-409C-BE32-E72D297353CC}">
              <c16:uniqueId val="{00000001-DDBE-4B91-84FD-384758696812}"/>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5B6180"/>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DF0F7"/>
              </a:solidFill>
              <a:prstDash val="solid"/>
              <a:round/>
            </a:ln>
          </c:spPr>
        </c:majorGridlines>
        <c:title>
          <c:tx>
            <c:rich>
              <a:bodyPr/>
              <a:lstStyle/>
              <a:p>
                <a:pPr>
                  <a:defRPr sz="1100" b="0" i="0" u="none" strike="noStrike">
                    <a:solidFill>
                      <a:srgbClr val="5B6180"/>
                    </a:solidFill>
                    <a:latin typeface="Calibri"/>
                  </a:defRPr>
                </a:pPr>
                <a:r>
                  <a:rPr sz="1100" b="0" i="0" u="none" strike="noStrike">
                    <a:solidFill>
                      <a:srgbClr val="5B6180"/>
                    </a:solidFill>
                    <a:latin typeface="Calibri"/>
                  </a:rPr>
                  <a:t>Recovery-rate lift vs baseline</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180"/>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435309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at the top: this is a measurement study, not a product demo. The credibility of everything that follows rests on being straight about what is measured and what is assumed.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oversell. The 8-15% figure is a practitioner estimate, flagged as such. The NPCI and NACH figures are primary.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earns the right to the rest of the deck. The analytics head in the room has seen the vendor numbers. Telling them why those numbers are inapplicable is the credibility move.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enterprise architect: the point of build order is that the measurement was trusted before anything was measured with 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differentiates us from three ML-retry vendors. Anyone can produce a number. Very few produce one with a negative control attached.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room takes one thing away, it is this slide. It also sets up the honest risk: plumbing is cheap to replicate, which is why validating whether PGs already do it is the critical path.</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ops head: this is the segmentation that decides deployment scope. For sales: this is the discovery question.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Reporting a negative result is the strongest available signal that the positive ones were not tuned into existence.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this row pair to a skeptical engineer. It explains the entire product without a chart.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enterprise architect and InfoSec: emphasise read-only and no funds movement. That materially shortens security review.</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ops head: this is the integration ask. Deliberately small to start.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soften this slide. It is the reason the rest of the deck is credible, and it sets up the pilot ask as the natural next step.</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Naming the kill criterion up front is the single most persuasive thing in this deck for a skeptical CXO.</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pilot ask. Do not close on a price.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731520" y="1874520"/>
            <a:ext cx="10058400" cy="457200"/>
          </a:xfrm>
          <a:prstGeom prst="rect">
            <a:avLst/>
          </a:prstGeom>
          <a:noFill/>
          <a:ln/>
        </p:spPr>
        <p:txBody>
          <a:bodyPr wrap="square" lIns="0" tIns="0" rIns="0" bIns="0" rtlCol="0" anchor="ctr"/>
          <a:lstStyle/>
          <a:p>
            <a:pPr marL="0" indent="0">
              <a:buNone/>
            </a:pPr>
            <a:r>
              <a:rPr lang="en-US" sz="1500" kern="0" spc="800" dirty="0">
                <a:solidFill>
                  <a:srgbClr val="CADCFC"/>
                </a:solidFill>
                <a:latin typeface="Calibri" pitchFamily="34" charset="0"/>
                <a:ea typeface="Calibri" pitchFamily="34" charset="-122"/>
                <a:cs typeface="Calibri" pitchFamily="34" charset="-120"/>
              </a:rPr>
              <a:t>REBOUND</a:t>
            </a:r>
            <a:endParaRPr lang="en-US" sz="1500" dirty="0"/>
          </a:p>
        </p:txBody>
      </p:sp>
      <p:sp>
        <p:nvSpPr>
          <p:cNvPr id="3" name="Text 1"/>
          <p:cNvSpPr/>
          <p:nvPr/>
        </p:nvSpPr>
        <p:spPr>
          <a:xfrm>
            <a:off x="731520" y="2377440"/>
            <a:ext cx="10241280" cy="1554480"/>
          </a:xfrm>
          <a:prstGeom prst="rect">
            <a:avLst/>
          </a:prstGeom>
          <a:noFill/>
          <a:ln/>
        </p:spPr>
        <p:txBody>
          <a:bodyPr wrap="square" lIns="0" tIns="0" rIns="0" bIns="0" rtlCol="0" anchor="ctr"/>
          <a:lstStyle/>
          <a:p>
            <a:pPr marL="0" indent="0">
              <a:lnSpc>
                <a:spcPts val="4600"/>
              </a:lnSpc>
              <a:buNone/>
            </a:pPr>
            <a:r>
              <a:rPr lang="en-US" sz="3800" b="1" dirty="0">
                <a:solidFill>
                  <a:srgbClr val="FFFFFF"/>
                </a:solidFill>
                <a:latin typeface="Cambria" pitchFamily="34" charset="0"/>
                <a:ea typeface="Cambria" pitchFamily="34" charset="-122"/>
                <a:cs typeface="Cambria" pitchFamily="34" charset="-120"/>
              </a:rPr>
              <a:t>Recovering revenue lost to</a:t>
            </a:r>
            <a:endParaRPr lang="en-US" sz="3800" dirty="0"/>
          </a:p>
          <a:p>
            <a:pPr marL="0" indent="0">
              <a:lnSpc>
                <a:spcPts val="4600"/>
              </a:lnSpc>
              <a:buNone/>
            </a:pPr>
            <a:r>
              <a:rPr lang="en-US" sz="3800" b="1" dirty="0">
                <a:solidFill>
                  <a:srgbClr val="FFFFFF"/>
                </a:solidFill>
                <a:latin typeface="Cambria" pitchFamily="34" charset="0"/>
                <a:ea typeface="Cambria" pitchFamily="34" charset="-122"/>
                <a:cs typeface="Cambria" pitchFamily="34" charset="-120"/>
              </a:rPr>
              <a:t>recurring-payment failures in India</a:t>
            </a:r>
            <a:endParaRPr lang="en-US" sz="3800" dirty="0"/>
          </a:p>
        </p:txBody>
      </p:sp>
      <p:sp>
        <p:nvSpPr>
          <p:cNvPr id="4" name="Text 2"/>
          <p:cNvSpPr/>
          <p:nvPr/>
        </p:nvSpPr>
        <p:spPr>
          <a:xfrm>
            <a:off x="731520" y="4069080"/>
            <a:ext cx="9601200" cy="365760"/>
          </a:xfrm>
          <a:prstGeom prst="rect">
            <a:avLst/>
          </a:prstGeom>
          <a:noFill/>
          <a:ln/>
        </p:spPr>
        <p:txBody>
          <a:bodyPr wrap="square" lIns="0" tIns="0" rIns="0" bIns="0" rtlCol="0" anchor="ctr"/>
          <a:lstStyle/>
          <a:p>
            <a:pPr marL="0" indent="0">
              <a:buNone/>
            </a:pPr>
            <a:r>
              <a:rPr lang="en-US" sz="1600" dirty="0">
                <a:solidFill>
                  <a:srgbClr val="CADCFC"/>
                </a:solidFill>
                <a:latin typeface="Calibri" pitchFamily="34" charset="0"/>
                <a:ea typeface="Calibri" pitchFamily="34" charset="-122"/>
                <a:cs typeface="Calibri" pitchFamily="34" charset="-120"/>
              </a:rPr>
              <a:t>A measured account of where the money actually is — and where it is not.</a:t>
            </a:r>
            <a:endParaRPr lang="en-US" sz="1600" dirty="0"/>
          </a:p>
        </p:txBody>
      </p:sp>
      <p:sp>
        <p:nvSpPr>
          <p:cNvPr id="5" name="Shape 3"/>
          <p:cNvSpPr/>
          <p:nvPr/>
        </p:nvSpPr>
        <p:spPr>
          <a:xfrm>
            <a:off x="777240" y="4892040"/>
            <a:ext cx="1280160" cy="27432"/>
          </a:xfrm>
          <a:prstGeom prst="rect">
            <a:avLst/>
          </a:prstGeom>
          <a:solidFill>
            <a:srgbClr val="CADCFC"/>
          </a:solidFill>
          <a:ln/>
        </p:spPr>
      </p:sp>
      <p:sp>
        <p:nvSpPr>
          <p:cNvPr id="6" name="Text 4"/>
          <p:cNvSpPr/>
          <p:nvPr/>
        </p:nvSpPr>
        <p:spPr>
          <a:xfrm>
            <a:off x="731520" y="5120640"/>
            <a:ext cx="7315200" cy="274320"/>
          </a:xfrm>
          <a:prstGeom prst="rect">
            <a:avLst/>
          </a:prstGeom>
          <a:noFill/>
          <a:ln/>
        </p:spPr>
        <p:txBody>
          <a:bodyPr wrap="square" lIns="0" tIns="0" rIns="0" bIns="0" rtlCol="0" anchor="ctr"/>
          <a:lstStyle/>
          <a:p>
            <a:pPr marL="0" indent="0">
              <a:buNone/>
            </a:pPr>
            <a:r>
              <a:rPr lang="en-US" sz="1200" dirty="0">
                <a:solidFill>
                  <a:srgbClr val="8A90AB"/>
                </a:solidFill>
                <a:latin typeface="Calibri" pitchFamily="34" charset="0"/>
                <a:ea typeface="Calibri" pitchFamily="34" charset="-122"/>
                <a:cs typeface="Calibri" pitchFamily="34" charset="-120"/>
              </a:rPr>
              <a:t>Simulation study · v0.4 · August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685800"/>
          </a:xfrm>
          <a:prstGeom prst="rect">
            <a:avLst/>
          </a:prstGeom>
          <a:noFill/>
          <a:ln/>
        </p:spPr>
        <p:txBody>
          <a:bodyPr wrap="square" lIns="0" tIns="0" rIns="0" bIns="0" rtlCol="0" anchor="ctr"/>
          <a:lstStyle/>
          <a:p>
            <a:pPr marL="0" indent="0">
              <a:buNone/>
            </a:pPr>
            <a:r>
              <a:rPr lang="en-US" sz="3200" b="1" dirty="0">
                <a:solidFill>
                  <a:srgbClr val="16193B"/>
                </a:solidFill>
                <a:latin typeface="Cambria" pitchFamily="34" charset="0"/>
                <a:ea typeface="Cambria" pitchFamily="34" charset="-122"/>
                <a:cs typeface="Cambria" pitchFamily="34" charset="-120"/>
              </a:rPr>
              <a:t>Recurring debits in India fail at scale</a:t>
            </a:r>
            <a:endParaRPr lang="en-US" sz="3200" dirty="0"/>
          </a:p>
        </p:txBody>
      </p:sp>
      <p:sp>
        <p:nvSpPr>
          <p:cNvPr id="3" name="Text 1"/>
          <p:cNvSpPr/>
          <p:nvPr/>
        </p:nvSpPr>
        <p:spPr>
          <a:xfrm>
            <a:off x="548640" y="1115568"/>
            <a:ext cx="11064240" cy="365760"/>
          </a:xfrm>
          <a:prstGeom prst="rect">
            <a:avLst/>
          </a:prstGeom>
          <a:noFill/>
          <a:ln/>
        </p:spPr>
        <p:txBody>
          <a:bodyPr wrap="square" lIns="0" tIns="0" rIns="0" bIns="0" rtlCol="0" anchor="ctr"/>
          <a:lstStyle/>
          <a:p>
            <a:pPr marL="0" indent="0">
              <a:buNone/>
            </a:pPr>
            <a:r>
              <a:rPr lang="en-US" sz="1400" dirty="0">
                <a:solidFill>
                  <a:srgbClr val="5B6180"/>
                </a:solidFill>
                <a:latin typeface="Calibri" pitchFamily="34" charset="0"/>
                <a:ea typeface="Calibri" pitchFamily="34" charset="-122"/>
                <a:cs typeface="Calibri" pitchFamily="34" charset="-120"/>
              </a:rPr>
              <a:t>And the failures are concentrated in a category that is a timing problem, not a demand problem</a:t>
            </a:r>
            <a:endParaRPr lang="en-US" sz="1400" dirty="0"/>
          </a:p>
        </p:txBody>
      </p:sp>
      <p:sp>
        <p:nvSpPr>
          <p:cNvPr id="4" name="Shape 2"/>
          <p:cNvSpPr/>
          <p:nvPr/>
        </p:nvSpPr>
        <p:spPr>
          <a:xfrm>
            <a:off x="548640" y="1783080"/>
            <a:ext cx="2606040" cy="1691640"/>
          </a:xfrm>
          <a:prstGeom prst="roundRect">
            <a:avLst>
              <a:gd name="adj" fmla="val 3243"/>
            </a:avLst>
          </a:prstGeom>
          <a:solidFill>
            <a:srgbClr val="F6F8FC"/>
          </a:solidFill>
          <a:ln w="12700">
            <a:solidFill>
              <a:srgbClr val="DDE3F0"/>
            </a:solidFill>
            <a:prstDash val="solid"/>
          </a:ln>
        </p:spPr>
      </p:sp>
      <p:sp>
        <p:nvSpPr>
          <p:cNvPr id="5" name="Text 3"/>
          <p:cNvSpPr/>
          <p:nvPr/>
        </p:nvSpPr>
        <p:spPr>
          <a:xfrm>
            <a:off x="713232" y="1938528"/>
            <a:ext cx="2286000" cy="566928"/>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808M</a:t>
            </a:r>
            <a:endParaRPr lang="en-US" sz="3000" dirty="0"/>
          </a:p>
        </p:txBody>
      </p:sp>
      <p:sp>
        <p:nvSpPr>
          <p:cNvPr id="6" name="Text 4"/>
          <p:cNvSpPr/>
          <p:nvPr/>
        </p:nvSpPr>
        <p:spPr>
          <a:xfrm>
            <a:off x="713232" y="2578608"/>
            <a:ext cx="2286000" cy="777240"/>
          </a:xfrm>
          <a:prstGeom prst="rect">
            <a:avLst/>
          </a:prstGeom>
          <a:noFill/>
          <a:ln/>
        </p:spPr>
        <p:txBody>
          <a:bodyPr wrap="square" lIns="0" tIns="0" rIns="0" bIns="0" rtlCol="0" anchor="t"/>
          <a:lstStyle/>
          <a:p>
            <a:pPr marL="0" indent="0">
              <a:lnSpc>
                <a:spcPts val="1400"/>
              </a:lnSpc>
              <a:buNone/>
            </a:pPr>
            <a:r>
              <a:rPr lang="en-US" sz="1150" dirty="0">
                <a:solidFill>
                  <a:srgbClr val="5B6180"/>
                </a:solidFill>
                <a:latin typeface="Calibri" pitchFamily="34" charset="0"/>
                <a:ea typeface="Calibri" pitchFamily="34" charset="-122"/>
                <a:cs typeface="Calibri" pitchFamily="34" charset="-120"/>
              </a:rPr>
              <a:t>mandate executions</a:t>
            </a:r>
            <a:endParaRPr lang="en-US" sz="1150" dirty="0"/>
          </a:p>
          <a:p>
            <a:pPr marL="0" indent="0">
              <a:lnSpc>
                <a:spcPts val="1400"/>
              </a:lnSpc>
              <a:buNone/>
            </a:pPr>
            <a:r>
              <a:rPr lang="en-US" sz="1150" dirty="0">
                <a:solidFill>
                  <a:srgbClr val="5B6180"/>
                </a:solidFill>
                <a:latin typeface="Calibri" pitchFamily="34" charset="0"/>
                <a:ea typeface="Calibri" pitchFamily="34" charset="-122"/>
                <a:cs typeface="Calibri" pitchFamily="34" charset="-120"/>
              </a:rPr>
              <a:t>per month (Jul 2025)</a:t>
            </a:r>
            <a:endParaRPr lang="en-US" sz="1150" dirty="0"/>
          </a:p>
        </p:txBody>
      </p:sp>
      <p:sp>
        <p:nvSpPr>
          <p:cNvPr id="7" name="Shape 5"/>
          <p:cNvSpPr/>
          <p:nvPr/>
        </p:nvSpPr>
        <p:spPr>
          <a:xfrm>
            <a:off x="3401568" y="1783080"/>
            <a:ext cx="2606040" cy="1691640"/>
          </a:xfrm>
          <a:prstGeom prst="roundRect">
            <a:avLst>
              <a:gd name="adj" fmla="val 3243"/>
            </a:avLst>
          </a:prstGeom>
          <a:solidFill>
            <a:srgbClr val="F6F8FC"/>
          </a:solidFill>
          <a:ln w="12700">
            <a:solidFill>
              <a:srgbClr val="DDE3F0"/>
            </a:solidFill>
            <a:prstDash val="solid"/>
          </a:ln>
        </p:spPr>
      </p:sp>
      <p:sp>
        <p:nvSpPr>
          <p:cNvPr id="8" name="Text 6"/>
          <p:cNvSpPr/>
          <p:nvPr/>
        </p:nvSpPr>
        <p:spPr>
          <a:xfrm>
            <a:off x="3566160" y="1938528"/>
            <a:ext cx="2286000" cy="566928"/>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~20M</a:t>
            </a:r>
            <a:endParaRPr lang="en-US" sz="3000" dirty="0"/>
          </a:p>
        </p:txBody>
      </p:sp>
      <p:sp>
        <p:nvSpPr>
          <p:cNvPr id="9" name="Text 7"/>
          <p:cNvSpPr/>
          <p:nvPr/>
        </p:nvSpPr>
        <p:spPr>
          <a:xfrm>
            <a:off x="3566160" y="2578608"/>
            <a:ext cx="2286000" cy="777240"/>
          </a:xfrm>
          <a:prstGeom prst="rect">
            <a:avLst/>
          </a:prstGeom>
          <a:noFill/>
          <a:ln/>
        </p:spPr>
        <p:txBody>
          <a:bodyPr wrap="square" lIns="0" tIns="0" rIns="0" bIns="0" rtlCol="0" anchor="t"/>
          <a:lstStyle/>
          <a:p>
            <a:pPr marL="0" indent="0">
              <a:lnSpc>
                <a:spcPts val="1400"/>
              </a:lnSpc>
              <a:buNone/>
            </a:pPr>
            <a:r>
              <a:rPr lang="en-US" sz="1150" dirty="0">
                <a:solidFill>
                  <a:srgbClr val="5B6180"/>
                </a:solidFill>
                <a:latin typeface="Calibri" pitchFamily="34" charset="0"/>
                <a:ea typeface="Calibri" pitchFamily="34" charset="-122"/>
                <a:cs typeface="Calibri" pitchFamily="34" charset="-120"/>
              </a:rPr>
              <a:t>mandate revocations</a:t>
            </a:r>
            <a:endParaRPr lang="en-US" sz="1150" dirty="0"/>
          </a:p>
          <a:p>
            <a:pPr marL="0" indent="0">
              <a:lnSpc>
                <a:spcPts val="1400"/>
              </a:lnSpc>
              <a:buNone/>
            </a:pPr>
            <a:r>
              <a:rPr lang="en-US" sz="1150" dirty="0">
                <a:solidFill>
                  <a:srgbClr val="5B6180"/>
                </a:solidFill>
                <a:latin typeface="Calibri" pitchFamily="34" charset="0"/>
                <a:ea typeface="Calibri" pitchFamily="34" charset="-122"/>
                <a:cs typeface="Calibri" pitchFamily="34" charset="-120"/>
              </a:rPr>
              <a:t>per month</a:t>
            </a:r>
            <a:endParaRPr lang="en-US" sz="1150" dirty="0"/>
          </a:p>
        </p:txBody>
      </p:sp>
      <p:sp>
        <p:nvSpPr>
          <p:cNvPr id="10" name="Shape 8"/>
          <p:cNvSpPr/>
          <p:nvPr/>
        </p:nvSpPr>
        <p:spPr>
          <a:xfrm>
            <a:off x="6254496" y="1783080"/>
            <a:ext cx="2606040" cy="1691640"/>
          </a:xfrm>
          <a:prstGeom prst="roundRect">
            <a:avLst>
              <a:gd name="adj" fmla="val 3243"/>
            </a:avLst>
          </a:prstGeom>
          <a:solidFill>
            <a:srgbClr val="F6F8FC"/>
          </a:solidFill>
          <a:ln w="12700">
            <a:solidFill>
              <a:srgbClr val="DDE3F0"/>
            </a:solidFill>
            <a:prstDash val="solid"/>
          </a:ln>
        </p:spPr>
      </p:sp>
      <p:sp>
        <p:nvSpPr>
          <p:cNvPr id="11" name="Text 9"/>
          <p:cNvSpPr/>
          <p:nvPr/>
        </p:nvSpPr>
        <p:spPr>
          <a:xfrm>
            <a:off x="6419088" y="1938528"/>
            <a:ext cx="2286000" cy="566928"/>
          </a:xfrm>
          <a:prstGeom prst="rect">
            <a:avLst/>
          </a:prstGeom>
          <a:noFill/>
          <a:ln/>
        </p:spPr>
        <p:txBody>
          <a:bodyPr wrap="square" lIns="0" tIns="0" rIns="0" bIns="0" rtlCol="0" anchor="ctr"/>
          <a:lstStyle/>
          <a:p>
            <a:pPr marL="0" indent="0">
              <a:buNone/>
            </a:pPr>
            <a:r>
              <a:rPr lang="en-US" sz="3000" b="1" dirty="0">
                <a:solidFill>
                  <a:srgbClr val="C2740A"/>
                </a:solidFill>
                <a:latin typeface="Cambria" pitchFamily="34" charset="0"/>
                <a:ea typeface="Cambria" pitchFamily="34" charset="-122"/>
                <a:cs typeface="Cambria" pitchFamily="34" charset="-120"/>
              </a:rPr>
              <a:t>8–15%</a:t>
            </a:r>
            <a:endParaRPr lang="en-US" sz="3000" dirty="0"/>
          </a:p>
        </p:txBody>
      </p:sp>
      <p:sp>
        <p:nvSpPr>
          <p:cNvPr id="12" name="Text 10"/>
          <p:cNvSpPr/>
          <p:nvPr/>
        </p:nvSpPr>
        <p:spPr>
          <a:xfrm>
            <a:off x="6419088" y="2578608"/>
            <a:ext cx="2286000" cy="777240"/>
          </a:xfrm>
          <a:prstGeom prst="rect">
            <a:avLst/>
          </a:prstGeom>
          <a:noFill/>
          <a:ln/>
        </p:spPr>
        <p:txBody>
          <a:bodyPr wrap="square" lIns="0" tIns="0" rIns="0" bIns="0" rtlCol="0" anchor="t"/>
          <a:lstStyle/>
          <a:p>
            <a:pPr marL="0" indent="0">
              <a:lnSpc>
                <a:spcPts val="1400"/>
              </a:lnSpc>
              <a:buNone/>
            </a:pPr>
            <a:r>
              <a:rPr lang="en-US" sz="1150" dirty="0">
                <a:solidFill>
                  <a:srgbClr val="5B6180"/>
                </a:solidFill>
                <a:latin typeface="Calibri" pitchFamily="34" charset="0"/>
                <a:ea typeface="Calibri" pitchFamily="34" charset="-122"/>
                <a:cs typeface="Calibri" pitchFamily="34" charset="-120"/>
              </a:rPr>
              <a:t>UPI AutoPay failure rate</a:t>
            </a:r>
            <a:endParaRPr lang="en-US" sz="1150" dirty="0"/>
          </a:p>
          <a:p>
            <a:pPr marL="0" indent="0">
              <a:lnSpc>
                <a:spcPts val="1400"/>
              </a:lnSpc>
              <a:buNone/>
            </a:pPr>
            <a:r>
              <a:rPr lang="en-US" sz="1150" dirty="0">
                <a:solidFill>
                  <a:srgbClr val="5B6180"/>
                </a:solidFill>
                <a:latin typeface="Calibri" pitchFamily="34" charset="0"/>
                <a:ea typeface="Calibri" pitchFamily="34" charset="-122"/>
                <a:cs typeface="Calibri" pitchFamily="34" charset="-120"/>
              </a:rPr>
              <a:t>vs 2–3% for card mandates</a:t>
            </a:r>
            <a:endParaRPr lang="en-US" sz="1150" dirty="0"/>
          </a:p>
        </p:txBody>
      </p:sp>
      <p:sp>
        <p:nvSpPr>
          <p:cNvPr id="13" name="Shape 11"/>
          <p:cNvSpPr/>
          <p:nvPr/>
        </p:nvSpPr>
        <p:spPr>
          <a:xfrm>
            <a:off x="9107424" y="1783080"/>
            <a:ext cx="2606040" cy="1691640"/>
          </a:xfrm>
          <a:prstGeom prst="roundRect">
            <a:avLst>
              <a:gd name="adj" fmla="val 3243"/>
            </a:avLst>
          </a:prstGeom>
          <a:solidFill>
            <a:srgbClr val="F6F8FC"/>
          </a:solidFill>
          <a:ln w="12700">
            <a:solidFill>
              <a:srgbClr val="DDE3F0"/>
            </a:solidFill>
            <a:prstDash val="solid"/>
          </a:ln>
        </p:spPr>
      </p:sp>
      <p:sp>
        <p:nvSpPr>
          <p:cNvPr id="14" name="Text 12"/>
          <p:cNvSpPr/>
          <p:nvPr/>
        </p:nvSpPr>
        <p:spPr>
          <a:xfrm>
            <a:off x="9272016" y="1938528"/>
            <a:ext cx="2286000" cy="566928"/>
          </a:xfrm>
          <a:prstGeom prst="rect">
            <a:avLst/>
          </a:prstGeom>
          <a:noFill/>
          <a:ln/>
        </p:spPr>
        <p:txBody>
          <a:bodyPr wrap="square" lIns="0" tIns="0" rIns="0" bIns="0" rtlCol="0" anchor="ctr"/>
          <a:lstStyle/>
          <a:p>
            <a:pPr marL="0" indent="0">
              <a:buNone/>
            </a:pPr>
            <a:r>
              <a:rPr lang="en-US" sz="3000" b="1" dirty="0">
                <a:solidFill>
                  <a:srgbClr val="0E7C7B"/>
                </a:solidFill>
                <a:latin typeface="Cambria" pitchFamily="34" charset="0"/>
                <a:ea typeface="Cambria" pitchFamily="34" charset="-122"/>
                <a:cs typeface="Cambria" pitchFamily="34" charset="-120"/>
              </a:rPr>
              <a:t>&lt;1% / &lt;5%</a:t>
            </a:r>
            <a:endParaRPr lang="en-US" sz="3000" dirty="0"/>
          </a:p>
        </p:txBody>
      </p:sp>
      <p:sp>
        <p:nvSpPr>
          <p:cNvPr id="15" name="Text 13"/>
          <p:cNvSpPr/>
          <p:nvPr/>
        </p:nvSpPr>
        <p:spPr>
          <a:xfrm>
            <a:off x="9272016" y="2578608"/>
            <a:ext cx="2286000" cy="777240"/>
          </a:xfrm>
          <a:prstGeom prst="rect">
            <a:avLst/>
          </a:prstGeom>
          <a:noFill/>
          <a:ln/>
        </p:spPr>
        <p:txBody>
          <a:bodyPr wrap="square" lIns="0" tIns="0" rIns="0" bIns="0" rtlCol="0" anchor="t"/>
          <a:lstStyle/>
          <a:p>
            <a:pPr marL="0" indent="0">
              <a:lnSpc>
                <a:spcPts val="1400"/>
              </a:lnSpc>
              <a:buNone/>
            </a:pPr>
            <a:r>
              <a:rPr lang="en-US" sz="1150" dirty="0">
                <a:solidFill>
                  <a:srgbClr val="5B6180"/>
                </a:solidFill>
                <a:latin typeface="Calibri" pitchFamily="34" charset="0"/>
                <a:ea typeface="Calibri" pitchFamily="34" charset="-122"/>
                <a:cs typeface="Calibri" pitchFamily="34" charset="-120"/>
              </a:rPr>
              <a:t>NPCI targets for technical</a:t>
            </a:r>
            <a:endParaRPr lang="en-US" sz="1150" dirty="0"/>
          </a:p>
          <a:p>
            <a:pPr marL="0" indent="0">
              <a:lnSpc>
                <a:spcPts val="1400"/>
              </a:lnSpc>
              <a:buNone/>
            </a:pPr>
            <a:r>
              <a:rPr lang="en-US" sz="1150" dirty="0">
                <a:solidFill>
                  <a:srgbClr val="5B6180"/>
                </a:solidFill>
                <a:latin typeface="Calibri" pitchFamily="34" charset="0"/>
                <a:ea typeface="Calibri" pitchFamily="34" charset="-122"/>
                <a:cs typeface="Calibri" pitchFamily="34" charset="-120"/>
              </a:rPr>
              <a:t>vs business declines</a:t>
            </a:r>
            <a:endParaRPr lang="en-US" sz="1150" dirty="0"/>
          </a:p>
        </p:txBody>
      </p:sp>
      <p:sp>
        <p:nvSpPr>
          <p:cNvPr id="16" name="Text 14"/>
          <p:cNvSpPr/>
          <p:nvPr/>
        </p:nvSpPr>
        <p:spPr>
          <a:xfrm>
            <a:off x="548640" y="3886200"/>
            <a:ext cx="5486400" cy="320040"/>
          </a:xfrm>
          <a:prstGeom prst="rect">
            <a:avLst/>
          </a:prstGeom>
          <a:noFill/>
          <a:ln/>
        </p:spPr>
        <p:txBody>
          <a:bodyPr wrap="square" lIns="0" tIns="0" rIns="0" bIns="0" rtlCol="0" anchor="ctr"/>
          <a:lstStyle/>
          <a:p>
            <a:pPr marL="0" indent="0">
              <a:buNone/>
            </a:pPr>
            <a:r>
              <a:rPr lang="en-US" sz="1900" b="1" dirty="0">
                <a:solidFill>
                  <a:srgbClr val="16193B"/>
                </a:solidFill>
                <a:latin typeface="Cambria" pitchFamily="34" charset="0"/>
                <a:ea typeface="Cambria" pitchFamily="34" charset="-122"/>
                <a:cs typeface="Cambria" pitchFamily="34" charset="-120"/>
              </a:rPr>
              <a:t>The split that matters</a:t>
            </a:r>
            <a:endParaRPr lang="en-US" sz="1900" dirty="0"/>
          </a:p>
        </p:txBody>
      </p:sp>
      <p:sp>
        <p:nvSpPr>
          <p:cNvPr id="17" name="Text 15"/>
          <p:cNvSpPr/>
          <p:nvPr/>
        </p:nvSpPr>
        <p:spPr>
          <a:xfrm>
            <a:off x="548640" y="4279392"/>
            <a:ext cx="11064240" cy="1737360"/>
          </a:xfrm>
          <a:prstGeom prst="rect">
            <a:avLst/>
          </a:prstGeom>
          <a:noFill/>
          <a:ln/>
        </p:spPr>
        <p:txBody>
          <a:bodyPr wrap="square" lIns="0" tIns="0" rIns="0" bIns="0" rtlCol="0" anchor="t"/>
          <a:lstStyle/>
          <a:p>
            <a:pPr marL="342900" indent="-342900">
              <a:lnSpc>
                <a:spcPts val="1800"/>
              </a:lnSpc>
              <a:spcAft>
                <a:spcPts val="800"/>
              </a:spcAft>
              <a:buSzPct val="100000"/>
              <a:buChar char="•"/>
            </a:pPr>
            <a:r>
              <a:rPr lang="en-US" sz="1350" dirty="0">
                <a:solidFill>
                  <a:srgbClr val="5B6180"/>
                </a:solidFill>
                <a:latin typeface="Calibri" pitchFamily="34" charset="0"/>
                <a:ea typeface="Calibri" pitchFamily="34" charset="-122"/>
                <a:cs typeface="Calibri" pitchFamily="34" charset="-120"/>
              </a:rPr>
              <a:t>Technical declines are the bank's problem and largely solved — system-wide TD fell from 8–10% in 2016 to under 1% by 2025.</a:t>
            </a:r>
            <a:endParaRPr lang="en-US" sz="1350" dirty="0"/>
          </a:p>
          <a:p>
            <a:pPr marL="342900" indent="-342900">
              <a:lnSpc>
                <a:spcPts val="1800"/>
              </a:lnSpc>
              <a:spcAft>
                <a:spcPts val="800"/>
              </a:spcAft>
              <a:buSzPct val="100000"/>
              <a:buChar char="•"/>
            </a:pPr>
            <a:r>
              <a:rPr lang="en-US" sz="1350" dirty="0">
                <a:solidFill>
                  <a:srgbClr val="5B6180"/>
                </a:solidFill>
                <a:latin typeface="Calibri" pitchFamily="34" charset="0"/>
                <a:ea typeface="Calibri" pitchFamily="34" charset="-122"/>
                <a:cs typeface="Calibri" pitchFamily="34" charset="-120"/>
              </a:rPr>
              <a:t>Business declines — overwhelmingly insufficient balance — are not solved, and they are a question of WHEN the debit is presented, not WHETHER the customer intends to pay.</a:t>
            </a:r>
            <a:endParaRPr lang="en-US" sz="1350" dirty="0"/>
          </a:p>
          <a:p>
            <a:pPr marL="342900" indent="-342900">
              <a:lnSpc>
                <a:spcPts val="1800"/>
              </a:lnSpc>
              <a:buSzPct val="100000"/>
              <a:buChar char="•"/>
            </a:pPr>
            <a:r>
              <a:rPr lang="en-US" sz="1350" dirty="0">
                <a:solidFill>
                  <a:srgbClr val="5B6180"/>
                </a:solidFill>
                <a:latin typeface="Calibri" pitchFamily="34" charset="0"/>
                <a:ea typeface="Calibri" pitchFamily="34" charset="-122"/>
                <a:cs typeface="Calibri" pitchFamily="34" charset="-120"/>
              </a:rPr>
              <a:t>NACH bounce data has been public and material for years: 32.98% by volume at the August 2021 reading.</a:t>
            </a:r>
            <a:endParaRPr lang="en-US" sz="1350" dirty="0"/>
          </a:p>
        </p:txBody>
      </p:sp>
      <p:sp>
        <p:nvSpPr>
          <p:cNvPr id="18" name="Text 16"/>
          <p:cNvSpPr/>
          <p:nvPr/>
        </p:nvSpPr>
        <p:spPr>
          <a:xfrm>
            <a:off x="548640" y="6327648"/>
            <a:ext cx="11064240" cy="274320"/>
          </a:xfrm>
          <a:prstGeom prst="rect">
            <a:avLst/>
          </a:prstGeom>
          <a:noFill/>
          <a:ln/>
        </p:spPr>
        <p:txBody>
          <a:bodyPr wrap="square" lIns="0" tIns="0" rIns="0" bIns="0" rtlCol="0" anchor="ctr"/>
          <a:lstStyle/>
          <a:p>
            <a:pPr marL="0" indent="0">
              <a:buNone/>
            </a:pPr>
            <a:r>
              <a:rPr lang="en-US" sz="900" i="1" dirty="0">
                <a:solidFill>
                  <a:srgbClr val="8A90AB"/>
                </a:solidFill>
                <a:latin typeface="Calibri" pitchFamily="34" charset="0"/>
                <a:ea typeface="Calibri" pitchFamily="34" charset="-122"/>
                <a:cs typeface="Calibri" pitchFamily="34" charset="-120"/>
              </a:rPr>
              <a:t>Sources: NPCI monthly bank-wise decline and uptime data; NPCI Circular OC-149 (June 2022); NACH bounce statistics. Practitioner estimates for the UPI-vs-card gap.</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685800"/>
          </a:xfrm>
          <a:prstGeom prst="rect">
            <a:avLst/>
          </a:prstGeom>
          <a:noFill/>
          <a:ln/>
        </p:spPr>
        <p:txBody>
          <a:bodyPr wrap="square" lIns="0" tIns="0" rIns="0" bIns="0" rtlCol="0" anchor="ctr"/>
          <a:lstStyle/>
          <a:p>
            <a:pPr marL="0" indent="0">
              <a:buNone/>
            </a:pPr>
            <a:r>
              <a:rPr lang="en-US" sz="3200" b="1" dirty="0">
                <a:solidFill>
                  <a:srgbClr val="16193B"/>
                </a:solidFill>
                <a:latin typeface="Cambria" pitchFamily="34" charset="0"/>
                <a:ea typeface="Cambria" pitchFamily="34" charset="-122"/>
                <a:cs typeface="Cambria" pitchFamily="34" charset="-120"/>
              </a:rPr>
              <a:t>The industry's numbers do not transfer to India</a:t>
            </a:r>
            <a:endParaRPr lang="en-US" sz="3200" dirty="0"/>
          </a:p>
        </p:txBody>
      </p:sp>
      <p:sp>
        <p:nvSpPr>
          <p:cNvPr id="3" name="Text 1"/>
          <p:cNvSpPr/>
          <p:nvPr/>
        </p:nvSpPr>
        <p:spPr>
          <a:xfrm>
            <a:off x="548640" y="1115568"/>
            <a:ext cx="11064240" cy="365760"/>
          </a:xfrm>
          <a:prstGeom prst="rect">
            <a:avLst/>
          </a:prstGeom>
          <a:noFill/>
          <a:ln/>
        </p:spPr>
        <p:txBody>
          <a:bodyPr wrap="square" lIns="0" tIns="0" rIns="0" bIns="0" rtlCol="0" anchor="ctr"/>
          <a:lstStyle/>
          <a:p>
            <a:pPr marL="0" indent="0">
              <a:buNone/>
            </a:pPr>
            <a:r>
              <a:rPr lang="en-US" sz="1400" dirty="0">
                <a:solidFill>
                  <a:srgbClr val="5B6180"/>
                </a:solidFill>
                <a:latin typeface="Calibri" pitchFamily="34" charset="0"/>
                <a:ea typeface="Calibri" pitchFamily="34" charset="-122"/>
                <a:cs typeface="Calibri" pitchFamily="34" charset="-120"/>
              </a:rPr>
              <a:t>Recovery benchmarks quoted in this category are measured on a market that works differently</a:t>
            </a:r>
            <a:endParaRPr lang="en-US" sz="1400" dirty="0"/>
          </a:p>
        </p:txBody>
      </p:sp>
      <p:sp>
        <p:nvSpPr>
          <p:cNvPr id="4" name="Shape 2"/>
          <p:cNvSpPr/>
          <p:nvPr/>
        </p:nvSpPr>
        <p:spPr>
          <a:xfrm>
            <a:off x="548640" y="1783080"/>
            <a:ext cx="5394960" cy="3291840"/>
          </a:xfrm>
          <a:prstGeom prst="roundRect">
            <a:avLst>
              <a:gd name="adj" fmla="val 1667"/>
            </a:avLst>
          </a:prstGeom>
          <a:solidFill>
            <a:srgbClr val="FBF3E8"/>
          </a:solidFill>
          <a:ln w="12700">
            <a:solidFill>
              <a:srgbClr val="DDE3F0"/>
            </a:solidFill>
            <a:prstDash val="solid"/>
          </a:ln>
        </p:spPr>
      </p:sp>
      <p:sp>
        <p:nvSpPr>
          <p:cNvPr id="5" name="Text 3"/>
          <p:cNvSpPr/>
          <p:nvPr/>
        </p:nvSpPr>
        <p:spPr>
          <a:xfrm>
            <a:off x="868680" y="2011680"/>
            <a:ext cx="4754880" cy="365760"/>
          </a:xfrm>
          <a:prstGeom prst="rect">
            <a:avLst/>
          </a:prstGeom>
          <a:noFill/>
          <a:ln/>
        </p:spPr>
        <p:txBody>
          <a:bodyPr wrap="square" lIns="0" tIns="0" rIns="0" bIns="0" rtlCol="0" anchor="ctr"/>
          <a:lstStyle/>
          <a:p>
            <a:pPr marL="0" indent="0">
              <a:buNone/>
            </a:pPr>
            <a:r>
              <a:rPr lang="en-US" sz="2000" b="1" dirty="0">
                <a:solidFill>
                  <a:srgbClr val="C2740A"/>
                </a:solidFill>
                <a:latin typeface="Cambria" pitchFamily="34" charset="0"/>
                <a:ea typeface="Cambria" pitchFamily="34" charset="-122"/>
                <a:cs typeface="Cambria" pitchFamily="34" charset="-120"/>
              </a:rPr>
              <a:t>What vendors quote</a:t>
            </a:r>
            <a:endParaRPr lang="en-US" sz="2000" dirty="0"/>
          </a:p>
        </p:txBody>
      </p:sp>
      <p:sp>
        <p:nvSpPr>
          <p:cNvPr id="6" name="Text 4"/>
          <p:cNvSpPr/>
          <p:nvPr/>
        </p:nvSpPr>
        <p:spPr>
          <a:xfrm>
            <a:off x="868680" y="2487168"/>
            <a:ext cx="4754880" cy="1920240"/>
          </a:xfrm>
          <a:prstGeom prst="rect">
            <a:avLst/>
          </a:prstGeom>
          <a:noFill/>
          <a:ln/>
        </p:spPr>
        <p:txBody>
          <a:bodyPr wrap="square" lIns="0" tIns="0" rIns="0" bIns="0" rtlCol="0" anchor="t"/>
          <a:lstStyle/>
          <a:p>
            <a:pPr marL="342900" indent="-342900">
              <a:lnSpc>
                <a:spcPts val="1800"/>
              </a:lnSpc>
              <a:spcAft>
                <a:spcPts val="1000"/>
              </a:spcAft>
              <a:buSzPct val="100000"/>
              <a:buChar char="•"/>
            </a:pPr>
            <a:r>
              <a:rPr lang="en-US" sz="1350" dirty="0">
                <a:solidFill>
                  <a:srgbClr val="5B6180"/>
                </a:solidFill>
                <a:latin typeface="Calibri" pitchFamily="34" charset="0"/>
                <a:ea typeface="Calibri" pitchFamily="34" charset="-122"/>
                <a:cs typeface="Calibri" pitchFamily="34" charset="-120"/>
              </a:rPr>
              <a:t>20–40% of subscription churn is involuntary</a:t>
            </a:r>
            <a:endParaRPr lang="en-US" sz="1350" dirty="0"/>
          </a:p>
          <a:p>
            <a:pPr marL="342900" indent="-342900">
              <a:lnSpc>
                <a:spcPts val="1800"/>
              </a:lnSpc>
              <a:spcAft>
                <a:spcPts val="1000"/>
              </a:spcAft>
              <a:buSzPct val="100000"/>
              <a:buChar char="•"/>
            </a:pPr>
            <a:r>
              <a:rPr lang="en-US" sz="1350" dirty="0">
                <a:solidFill>
                  <a:srgbClr val="5B6180"/>
                </a:solidFill>
                <a:latin typeface="Calibri" pitchFamily="34" charset="0"/>
                <a:ea typeface="Calibri" pitchFamily="34" charset="-122"/>
                <a:cs typeface="Calibri" pitchFamily="34" charset="-120"/>
              </a:rPr>
              <a:t>60–80% of it is recoverable</a:t>
            </a:r>
            <a:endParaRPr lang="en-US" sz="1350" dirty="0"/>
          </a:p>
          <a:p>
            <a:pPr marL="342900" indent="-342900">
              <a:lnSpc>
                <a:spcPts val="1800"/>
              </a:lnSpc>
              <a:spcAft>
                <a:spcPts val="1000"/>
              </a:spcAft>
              <a:buSzPct val="100000"/>
              <a:buChar char="•"/>
            </a:pPr>
            <a:r>
              <a:rPr lang="en-US" sz="1350" dirty="0">
                <a:solidFill>
                  <a:srgbClr val="5B6180"/>
                </a:solidFill>
                <a:latin typeface="Calibri" pitchFamily="34" charset="0"/>
                <a:ea typeface="Calibri" pitchFamily="34" charset="-122"/>
                <a:cs typeface="Calibri" pitchFamily="34" charset="-120"/>
              </a:rPr>
              <a:t>Smart retry alone recovers 40%</a:t>
            </a:r>
            <a:endParaRPr lang="en-US" sz="1350" dirty="0"/>
          </a:p>
          <a:p>
            <a:pPr marL="342900" indent="-342900">
              <a:lnSpc>
                <a:spcPts val="1800"/>
              </a:lnSpc>
              <a:buSzPct val="100000"/>
              <a:buChar char="•"/>
            </a:pPr>
            <a:r>
              <a:rPr lang="en-US" sz="1350" dirty="0">
                <a:solidFill>
                  <a:srgbClr val="5B6180"/>
                </a:solidFill>
                <a:latin typeface="Calibri" pitchFamily="34" charset="0"/>
                <a:ea typeface="Calibri" pitchFamily="34" charset="-122"/>
                <a:cs typeface="Calibri" pitchFamily="34" charset="-120"/>
              </a:rPr>
              <a:t>Retry + card-updater + email reaches 70%</a:t>
            </a:r>
            <a:endParaRPr lang="en-US" sz="1350" dirty="0"/>
          </a:p>
        </p:txBody>
      </p:sp>
      <p:sp>
        <p:nvSpPr>
          <p:cNvPr id="7" name="Text 5"/>
          <p:cNvSpPr/>
          <p:nvPr/>
        </p:nvSpPr>
        <p:spPr>
          <a:xfrm>
            <a:off x="868680" y="4526280"/>
            <a:ext cx="4754880" cy="274320"/>
          </a:xfrm>
          <a:prstGeom prst="rect">
            <a:avLst/>
          </a:prstGeom>
          <a:noFill/>
          <a:ln/>
        </p:spPr>
        <p:txBody>
          <a:bodyPr wrap="square" lIns="0" tIns="0" rIns="0" bIns="0" rtlCol="0" anchor="ctr"/>
          <a:lstStyle/>
          <a:p>
            <a:pPr marL="0" indent="0">
              <a:buNone/>
            </a:pPr>
            <a:r>
              <a:rPr lang="en-US" sz="1200" i="1" dirty="0">
                <a:solidFill>
                  <a:srgbClr val="C2740A"/>
                </a:solidFill>
                <a:latin typeface="Calibri" pitchFamily="34" charset="0"/>
                <a:ea typeface="Calibri" pitchFamily="34" charset="-122"/>
                <a:cs typeface="Calibri" pitchFamily="34" charset="-120"/>
              </a:rPr>
              <a:t>Self-reported, US, card-centric.</a:t>
            </a:r>
            <a:endParaRPr lang="en-US" sz="1200" dirty="0"/>
          </a:p>
        </p:txBody>
      </p:sp>
      <p:sp>
        <p:nvSpPr>
          <p:cNvPr id="8" name="Shape 6"/>
          <p:cNvSpPr/>
          <p:nvPr/>
        </p:nvSpPr>
        <p:spPr>
          <a:xfrm>
            <a:off x="6217920" y="1783080"/>
            <a:ext cx="5394960" cy="3291840"/>
          </a:xfrm>
          <a:prstGeom prst="roundRect">
            <a:avLst>
              <a:gd name="adj" fmla="val 1667"/>
            </a:avLst>
          </a:prstGeom>
          <a:solidFill>
            <a:srgbClr val="EAF2F2"/>
          </a:solidFill>
          <a:ln w="12700">
            <a:solidFill>
              <a:srgbClr val="DDE3F0"/>
            </a:solidFill>
            <a:prstDash val="solid"/>
          </a:ln>
        </p:spPr>
      </p:sp>
      <p:sp>
        <p:nvSpPr>
          <p:cNvPr id="9" name="Text 7"/>
          <p:cNvSpPr/>
          <p:nvPr/>
        </p:nvSpPr>
        <p:spPr>
          <a:xfrm>
            <a:off x="6537960" y="2011680"/>
            <a:ext cx="4754880" cy="365760"/>
          </a:xfrm>
          <a:prstGeom prst="rect">
            <a:avLst/>
          </a:prstGeom>
          <a:noFill/>
          <a:ln/>
        </p:spPr>
        <p:txBody>
          <a:bodyPr wrap="square" lIns="0" tIns="0" rIns="0" bIns="0" rtlCol="0" anchor="ctr"/>
          <a:lstStyle/>
          <a:p>
            <a:pPr marL="0" indent="0">
              <a:buNone/>
            </a:pPr>
            <a:r>
              <a:rPr lang="en-US" sz="2000" b="1" dirty="0">
                <a:solidFill>
                  <a:srgbClr val="0E7C7B"/>
                </a:solidFill>
                <a:latin typeface="Cambria" pitchFamily="34" charset="0"/>
                <a:ea typeface="Cambria" pitchFamily="34" charset="-122"/>
                <a:cs typeface="Cambria" pitchFamily="34" charset="-120"/>
              </a:rPr>
              <a:t>Why they don't apply here</a:t>
            </a:r>
            <a:endParaRPr lang="en-US" sz="2000" dirty="0"/>
          </a:p>
        </p:txBody>
      </p:sp>
      <p:sp>
        <p:nvSpPr>
          <p:cNvPr id="10" name="Text 8"/>
          <p:cNvSpPr/>
          <p:nvPr/>
        </p:nvSpPr>
        <p:spPr>
          <a:xfrm>
            <a:off x="6537960" y="2487168"/>
            <a:ext cx="4754880" cy="2194560"/>
          </a:xfrm>
          <a:prstGeom prst="rect">
            <a:avLst/>
          </a:prstGeom>
          <a:noFill/>
          <a:ln/>
        </p:spPr>
        <p:txBody>
          <a:bodyPr wrap="square" lIns="0" tIns="0" rIns="0" bIns="0" rtlCol="0" anchor="t"/>
          <a:lstStyle/>
          <a:p>
            <a:pPr marL="342900" indent="-342900">
              <a:lnSpc>
                <a:spcPts val="1800"/>
              </a:lnSpc>
              <a:spcAft>
                <a:spcPts val="1000"/>
              </a:spcAft>
              <a:buSzPct val="100000"/>
              <a:buChar char="•"/>
            </a:pPr>
            <a:r>
              <a:rPr lang="en-US" sz="1350" dirty="0">
                <a:solidFill>
                  <a:srgbClr val="5B6180"/>
                </a:solidFill>
                <a:latin typeface="Calibri" pitchFamily="34" charset="0"/>
                <a:ea typeface="Calibri" pitchFamily="34" charset="-122"/>
                <a:cs typeface="Calibri" pitchFamily="34" charset="-120"/>
              </a:rPr>
              <a:t>Those baselines are driven by card expiry — a failure mode that barely exists on UPI or eNACH</a:t>
            </a:r>
            <a:endParaRPr lang="en-US" sz="1350" dirty="0"/>
          </a:p>
          <a:p>
            <a:pPr marL="342900" indent="-342900">
              <a:lnSpc>
                <a:spcPts val="1800"/>
              </a:lnSpc>
              <a:spcAft>
                <a:spcPts val="1000"/>
              </a:spcAft>
              <a:buSzPct val="100000"/>
              <a:buChar char="•"/>
            </a:pPr>
            <a:r>
              <a:rPr lang="en-US" sz="1350" dirty="0">
                <a:solidFill>
                  <a:srgbClr val="5B6180"/>
                </a:solidFill>
                <a:latin typeface="Calibri" pitchFamily="34" charset="0"/>
                <a:ea typeface="Calibri" pitchFamily="34" charset="-122"/>
                <a:cs typeface="Calibri" pitchFamily="34" charset="-120"/>
              </a:rPr>
              <a:t>Card-updater services have no meaningful Indian analogue</a:t>
            </a:r>
            <a:endParaRPr lang="en-US" sz="1350" dirty="0"/>
          </a:p>
          <a:p>
            <a:pPr marL="342900" indent="-342900">
              <a:lnSpc>
                <a:spcPts val="1800"/>
              </a:lnSpc>
              <a:spcAft>
                <a:spcPts val="1000"/>
              </a:spcAft>
              <a:buSzPct val="100000"/>
              <a:buChar char="•"/>
            </a:pPr>
            <a:r>
              <a:rPr lang="en-US" sz="1350" dirty="0">
                <a:solidFill>
                  <a:srgbClr val="5B6180"/>
                </a:solidFill>
                <a:latin typeface="Calibri" pitchFamily="34" charset="0"/>
                <a:ea typeface="Calibri" pitchFamily="34" charset="-122"/>
                <a:cs typeface="Calibri" pitchFamily="34" charset="-120"/>
              </a:rPr>
              <a:t>UPI is stateless and settles in real time; there is no pre-authorisation to lean on</a:t>
            </a:r>
            <a:endParaRPr lang="en-US" sz="1350" dirty="0"/>
          </a:p>
          <a:p>
            <a:pPr marL="342900" indent="-342900">
              <a:lnSpc>
                <a:spcPts val="1800"/>
              </a:lnSpc>
              <a:buSzPct val="100000"/>
              <a:buChar char="•"/>
            </a:pPr>
            <a:r>
              <a:rPr lang="en-US" sz="1350" dirty="0">
                <a:solidFill>
                  <a:srgbClr val="5B6180"/>
                </a:solidFill>
                <a:latin typeface="Calibri" pitchFamily="34" charset="0"/>
                <a:ea typeface="Calibri" pitchFamily="34" charset="-122"/>
                <a:cs typeface="Calibri" pitchFamily="34" charset="-120"/>
              </a:rPr>
              <a:t>Indian failures are dominated by balance timing and clearing calendars</a:t>
            </a:r>
            <a:endParaRPr lang="en-US" sz="1350" dirty="0"/>
          </a:p>
        </p:txBody>
      </p:sp>
      <p:sp>
        <p:nvSpPr>
          <p:cNvPr id="11" name="Text 9"/>
          <p:cNvSpPr/>
          <p:nvPr/>
        </p:nvSpPr>
        <p:spPr>
          <a:xfrm>
            <a:off x="548640" y="5349240"/>
            <a:ext cx="11064240" cy="365760"/>
          </a:xfrm>
          <a:prstGeom prst="rect">
            <a:avLst/>
          </a:prstGeom>
          <a:noFill/>
          <a:ln/>
        </p:spPr>
        <p:txBody>
          <a:bodyPr wrap="square" lIns="0" tIns="0" rIns="0" bIns="0" rtlCol="0" anchor="ctr"/>
          <a:lstStyle/>
          <a:p>
            <a:pPr marL="0" indent="0">
              <a:buNone/>
            </a:pPr>
            <a:r>
              <a:rPr lang="en-US" sz="1600" b="1" dirty="0">
                <a:solidFill>
                  <a:srgbClr val="16193B"/>
                </a:solidFill>
                <a:latin typeface="Cambria" pitchFamily="34" charset="0"/>
                <a:ea typeface="Cambria" pitchFamily="34" charset="-122"/>
                <a:cs typeface="Cambria" pitchFamily="34" charset="-120"/>
              </a:rPr>
              <a:t>Nobody has published rigorous, India-specific retry-lift data. That gap is what this study addresses.</a:t>
            </a:r>
            <a:endParaRPr lang="en-US" sz="1600" dirty="0"/>
          </a:p>
        </p:txBody>
      </p:sp>
      <p:sp>
        <p:nvSpPr>
          <p:cNvPr id="12" name="Text 10"/>
          <p:cNvSpPr/>
          <p:nvPr/>
        </p:nvSpPr>
        <p:spPr>
          <a:xfrm>
            <a:off x="548640" y="6327648"/>
            <a:ext cx="11064240" cy="274320"/>
          </a:xfrm>
          <a:prstGeom prst="rect">
            <a:avLst/>
          </a:prstGeom>
          <a:noFill/>
          <a:ln/>
        </p:spPr>
        <p:txBody>
          <a:bodyPr wrap="square" lIns="0" tIns="0" rIns="0" bIns="0" rtlCol="0" anchor="ctr"/>
          <a:lstStyle/>
          <a:p>
            <a:pPr marL="0" indent="0">
              <a:buNone/>
            </a:pPr>
            <a:r>
              <a:rPr lang="en-US" sz="900" i="1" dirty="0">
                <a:solidFill>
                  <a:srgbClr val="8A90AB"/>
                </a:solidFill>
                <a:latin typeface="Calibri" pitchFamily="34" charset="0"/>
                <a:ea typeface="Calibri" pitchFamily="34" charset="-122"/>
                <a:cs typeface="Calibri" pitchFamily="34" charset="-120"/>
              </a:rPr>
              <a:t>Vendor figures as published by Stripe, Recurly, Churnkey and comparable providers. Cited to characterise the prevailing claim, not endorsed.</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685800"/>
          </a:xfrm>
          <a:prstGeom prst="rect">
            <a:avLst/>
          </a:prstGeom>
          <a:noFill/>
          <a:ln/>
        </p:spPr>
        <p:txBody>
          <a:bodyPr wrap="square" lIns="0" tIns="0" rIns="0" bIns="0" rtlCol="0" anchor="ctr"/>
          <a:lstStyle/>
          <a:p>
            <a:pPr marL="0" indent="0">
              <a:buNone/>
            </a:pPr>
            <a:r>
              <a:rPr lang="en-US" sz="3200" b="1" dirty="0">
                <a:solidFill>
                  <a:srgbClr val="16193B"/>
                </a:solidFill>
                <a:latin typeface="Cambria" pitchFamily="34" charset="0"/>
                <a:ea typeface="Cambria" pitchFamily="34" charset="-122"/>
                <a:cs typeface="Cambria" pitchFamily="34" charset="-120"/>
              </a:rPr>
              <a:t>A measurement instrument, not a model to believe</a:t>
            </a:r>
            <a:endParaRPr lang="en-US" sz="3200" dirty="0"/>
          </a:p>
        </p:txBody>
      </p:sp>
      <p:sp>
        <p:nvSpPr>
          <p:cNvPr id="3" name="Text 1"/>
          <p:cNvSpPr/>
          <p:nvPr/>
        </p:nvSpPr>
        <p:spPr>
          <a:xfrm>
            <a:off x="548640" y="1115568"/>
            <a:ext cx="11064240" cy="365760"/>
          </a:xfrm>
          <a:prstGeom prst="rect">
            <a:avLst/>
          </a:prstGeom>
          <a:noFill/>
          <a:ln/>
        </p:spPr>
        <p:txBody>
          <a:bodyPr wrap="square" lIns="0" tIns="0" rIns="0" bIns="0" rtlCol="0" anchor="ctr"/>
          <a:lstStyle/>
          <a:p>
            <a:pPr marL="0" indent="0">
              <a:buNone/>
            </a:pPr>
            <a:r>
              <a:rPr lang="en-US" sz="1400" dirty="0">
                <a:solidFill>
                  <a:srgbClr val="5B6180"/>
                </a:solidFill>
                <a:latin typeface="Calibri" pitchFamily="34" charset="0"/>
                <a:ea typeface="Calibri" pitchFamily="34" charset="-122"/>
                <a:cs typeface="Calibri" pitchFamily="34" charset="-120"/>
              </a:rPr>
              <a:t>Discrete-event simulation of an Indian mandate book, with the measurement layer built and audited before any strategy</a:t>
            </a:r>
            <a:endParaRPr lang="en-US" sz="1400" dirty="0"/>
          </a:p>
        </p:txBody>
      </p:sp>
      <p:sp>
        <p:nvSpPr>
          <p:cNvPr id="4" name="Shape 2"/>
          <p:cNvSpPr/>
          <p:nvPr/>
        </p:nvSpPr>
        <p:spPr>
          <a:xfrm>
            <a:off x="566928" y="1792224"/>
            <a:ext cx="502920" cy="502920"/>
          </a:xfrm>
          <a:prstGeom prst="ellipse">
            <a:avLst/>
          </a:prstGeom>
          <a:solidFill>
            <a:srgbClr val="1E2761"/>
          </a:solidFill>
          <a:ln/>
        </p:spPr>
      </p:sp>
      <p:sp>
        <p:nvSpPr>
          <p:cNvPr id="5" name="Text 3"/>
          <p:cNvSpPr/>
          <p:nvPr/>
        </p:nvSpPr>
        <p:spPr>
          <a:xfrm>
            <a:off x="566928" y="1874520"/>
            <a:ext cx="502920"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6" name="Text 4"/>
          <p:cNvSpPr/>
          <p:nvPr/>
        </p:nvSpPr>
        <p:spPr>
          <a:xfrm>
            <a:off x="1234440" y="1755648"/>
            <a:ext cx="2651760" cy="329184"/>
          </a:xfrm>
          <a:prstGeom prst="rect">
            <a:avLst/>
          </a:prstGeom>
          <a:noFill/>
          <a:ln/>
        </p:spPr>
        <p:txBody>
          <a:bodyPr wrap="square" lIns="0" tIns="0" rIns="0" bIns="0" rtlCol="0" anchor="ctr"/>
          <a:lstStyle/>
          <a:p>
            <a:pPr marL="0" indent="0">
              <a:buNone/>
            </a:pPr>
            <a:r>
              <a:rPr lang="en-US" sz="1550" b="1" dirty="0">
                <a:solidFill>
                  <a:srgbClr val="16193B"/>
                </a:solidFill>
                <a:latin typeface="Cambria" pitchFamily="34" charset="0"/>
                <a:ea typeface="Cambria" pitchFamily="34" charset="-122"/>
                <a:cs typeface="Cambria" pitchFamily="34" charset="-120"/>
              </a:rPr>
              <a:t>Synthetic book</a:t>
            </a:r>
            <a:endParaRPr lang="en-US" sz="1550" dirty="0"/>
          </a:p>
        </p:txBody>
      </p:sp>
      <p:sp>
        <p:nvSpPr>
          <p:cNvPr id="7" name="Text 5"/>
          <p:cNvSpPr/>
          <p:nvPr/>
        </p:nvSpPr>
        <p:spPr>
          <a:xfrm>
            <a:off x="3977640" y="1737360"/>
            <a:ext cx="7635240" cy="731520"/>
          </a:xfrm>
          <a:prstGeom prst="rect">
            <a:avLst/>
          </a:prstGeom>
          <a:noFill/>
          <a:ln/>
        </p:spPr>
        <p:txBody>
          <a:bodyPr wrap="square" lIns="0" tIns="0" rIns="0" bIns="0" rtlCol="0" anchor="t"/>
          <a:lstStyle/>
          <a:p>
            <a:pPr marL="0" indent="0">
              <a:lnSpc>
                <a:spcPts val="1600"/>
              </a:lnSpc>
              <a:buNone/>
            </a:pPr>
            <a:r>
              <a:rPr lang="en-US" sz="1250" dirty="0">
                <a:solidFill>
                  <a:srgbClr val="5B6180"/>
                </a:solidFill>
                <a:latin typeface="Calibri" pitchFamily="34" charset="0"/>
                <a:ea typeface="Calibri" pitchFamily="34" charset="-122"/>
                <a:cs typeface="Calibri" pitchFamily="34" charset="-120"/>
              </a:rPr>
              <a:t>Customers with banks, incomes, salary dates, balance processes and mandates across UPI AutoPay, eNACH and card e-mandate.</a:t>
            </a:r>
            <a:endParaRPr lang="en-US" sz="1250" dirty="0"/>
          </a:p>
        </p:txBody>
      </p:sp>
      <p:sp>
        <p:nvSpPr>
          <p:cNvPr id="8" name="Shape 6"/>
          <p:cNvSpPr/>
          <p:nvPr/>
        </p:nvSpPr>
        <p:spPr>
          <a:xfrm>
            <a:off x="566928" y="2697480"/>
            <a:ext cx="502920" cy="502920"/>
          </a:xfrm>
          <a:prstGeom prst="ellipse">
            <a:avLst/>
          </a:prstGeom>
          <a:solidFill>
            <a:srgbClr val="1E2761"/>
          </a:solidFill>
          <a:ln/>
        </p:spPr>
      </p:sp>
      <p:sp>
        <p:nvSpPr>
          <p:cNvPr id="9" name="Text 7"/>
          <p:cNvSpPr/>
          <p:nvPr/>
        </p:nvSpPr>
        <p:spPr>
          <a:xfrm>
            <a:off x="566928" y="2779776"/>
            <a:ext cx="502920"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10" name="Text 8"/>
          <p:cNvSpPr/>
          <p:nvPr/>
        </p:nvSpPr>
        <p:spPr>
          <a:xfrm>
            <a:off x="1234440" y="2660904"/>
            <a:ext cx="2651760" cy="329184"/>
          </a:xfrm>
          <a:prstGeom prst="rect">
            <a:avLst/>
          </a:prstGeom>
          <a:noFill/>
          <a:ln/>
        </p:spPr>
        <p:txBody>
          <a:bodyPr wrap="square" lIns="0" tIns="0" rIns="0" bIns="0" rtlCol="0" anchor="ctr"/>
          <a:lstStyle/>
          <a:p>
            <a:pPr marL="0" indent="0">
              <a:buNone/>
            </a:pPr>
            <a:r>
              <a:rPr lang="en-US" sz="1550" b="1" dirty="0">
                <a:solidFill>
                  <a:srgbClr val="16193B"/>
                </a:solidFill>
                <a:latin typeface="Cambria" pitchFamily="34" charset="0"/>
                <a:ea typeface="Cambria" pitchFamily="34" charset="-122"/>
                <a:cs typeface="Cambria" pitchFamily="34" charset="-120"/>
              </a:rPr>
              <a:t>12 months of billing</a:t>
            </a:r>
            <a:endParaRPr lang="en-US" sz="1550" dirty="0"/>
          </a:p>
        </p:txBody>
      </p:sp>
      <p:sp>
        <p:nvSpPr>
          <p:cNvPr id="11" name="Text 9"/>
          <p:cNvSpPr/>
          <p:nvPr/>
        </p:nvSpPr>
        <p:spPr>
          <a:xfrm>
            <a:off x="3977640" y="2642616"/>
            <a:ext cx="7635240" cy="731520"/>
          </a:xfrm>
          <a:prstGeom prst="rect">
            <a:avLst/>
          </a:prstGeom>
          <a:noFill/>
          <a:ln/>
        </p:spPr>
        <p:txBody>
          <a:bodyPr wrap="square" lIns="0" tIns="0" rIns="0" bIns="0" rtlCol="0" anchor="t"/>
          <a:lstStyle/>
          <a:p>
            <a:pPr marL="0" indent="0">
              <a:lnSpc>
                <a:spcPts val="1600"/>
              </a:lnSpc>
              <a:buNone/>
            </a:pPr>
            <a:r>
              <a:rPr lang="en-US" sz="1250" dirty="0">
                <a:solidFill>
                  <a:srgbClr val="5B6180"/>
                </a:solidFill>
                <a:latin typeface="Calibri" pitchFamily="34" charset="0"/>
                <a:ea typeface="Calibri" pitchFamily="34" charset="-122"/>
                <a:cs typeface="Calibri" pitchFamily="34" charset="-120"/>
              </a:rPr>
              <a:t>Each debit checks mandate status, bank availability, caps, limits and balance — in order — and records WHY it failed.</a:t>
            </a:r>
            <a:endParaRPr lang="en-US" sz="1250" dirty="0"/>
          </a:p>
        </p:txBody>
      </p:sp>
      <p:sp>
        <p:nvSpPr>
          <p:cNvPr id="12" name="Shape 10"/>
          <p:cNvSpPr/>
          <p:nvPr/>
        </p:nvSpPr>
        <p:spPr>
          <a:xfrm>
            <a:off x="566928" y="3602736"/>
            <a:ext cx="502920" cy="502920"/>
          </a:xfrm>
          <a:prstGeom prst="ellipse">
            <a:avLst/>
          </a:prstGeom>
          <a:solidFill>
            <a:srgbClr val="1E2761"/>
          </a:solidFill>
          <a:ln/>
        </p:spPr>
      </p:sp>
      <p:sp>
        <p:nvSpPr>
          <p:cNvPr id="13" name="Text 11"/>
          <p:cNvSpPr/>
          <p:nvPr/>
        </p:nvSpPr>
        <p:spPr>
          <a:xfrm>
            <a:off x="566928" y="3685032"/>
            <a:ext cx="502920"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14" name="Text 12"/>
          <p:cNvSpPr/>
          <p:nvPr/>
        </p:nvSpPr>
        <p:spPr>
          <a:xfrm>
            <a:off x="1234440" y="3566160"/>
            <a:ext cx="2651760" cy="329184"/>
          </a:xfrm>
          <a:prstGeom prst="rect">
            <a:avLst/>
          </a:prstGeom>
          <a:noFill/>
          <a:ln/>
        </p:spPr>
        <p:txBody>
          <a:bodyPr wrap="square" lIns="0" tIns="0" rIns="0" bIns="0" rtlCol="0" anchor="ctr"/>
          <a:lstStyle/>
          <a:p>
            <a:pPr marL="0" indent="0">
              <a:buNone/>
            </a:pPr>
            <a:r>
              <a:rPr lang="en-US" sz="1550" b="1" dirty="0">
                <a:solidFill>
                  <a:srgbClr val="16193B"/>
                </a:solidFill>
                <a:latin typeface="Cambria" pitchFamily="34" charset="0"/>
                <a:ea typeface="Cambria" pitchFamily="34" charset="-122"/>
                <a:cs typeface="Cambria" pitchFamily="34" charset="-120"/>
              </a:rPr>
              <a:t>Seven retry strategies</a:t>
            </a:r>
            <a:endParaRPr lang="en-US" sz="1550" dirty="0"/>
          </a:p>
        </p:txBody>
      </p:sp>
      <p:sp>
        <p:nvSpPr>
          <p:cNvPr id="15" name="Text 13"/>
          <p:cNvSpPr/>
          <p:nvPr/>
        </p:nvSpPr>
        <p:spPr>
          <a:xfrm>
            <a:off x="3977640" y="3547872"/>
            <a:ext cx="7635240" cy="731520"/>
          </a:xfrm>
          <a:prstGeom prst="rect">
            <a:avLst/>
          </a:prstGeom>
          <a:noFill/>
          <a:ln/>
        </p:spPr>
        <p:txBody>
          <a:bodyPr wrap="square" lIns="0" tIns="0" rIns="0" bIns="0" rtlCol="0" anchor="t"/>
          <a:lstStyle/>
          <a:p>
            <a:pPr marL="0" indent="0">
              <a:lnSpc>
                <a:spcPts val="1600"/>
              </a:lnSpc>
              <a:buNone/>
            </a:pPr>
            <a:r>
              <a:rPr lang="en-US" sz="1250" dirty="0">
                <a:solidFill>
                  <a:srgbClr val="5B6180"/>
                </a:solidFill>
                <a:latin typeface="Calibri" pitchFamily="34" charset="0"/>
                <a:ea typeface="Calibri" pitchFamily="34" charset="-122"/>
                <a:cs typeface="Calibri" pitchFamily="34" charset="-120"/>
              </a:rPr>
              <a:t>The same failure is handed to every strategy. Identical population, identical failures. Only the decisions differ.</a:t>
            </a:r>
            <a:endParaRPr lang="en-US" sz="1250" dirty="0"/>
          </a:p>
        </p:txBody>
      </p:sp>
      <p:sp>
        <p:nvSpPr>
          <p:cNvPr id="16" name="Shape 14"/>
          <p:cNvSpPr/>
          <p:nvPr/>
        </p:nvSpPr>
        <p:spPr>
          <a:xfrm>
            <a:off x="566928" y="4507992"/>
            <a:ext cx="502920" cy="502920"/>
          </a:xfrm>
          <a:prstGeom prst="ellipse">
            <a:avLst/>
          </a:prstGeom>
          <a:solidFill>
            <a:srgbClr val="1E2761"/>
          </a:solidFill>
          <a:ln/>
        </p:spPr>
      </p:sp>
      <p:sp>
        <p:nvSpPr>
          <p:cNvPr id="17" name="Text 15"/>
          <p:cNvSpPr/>
          <p:nvPr/>
        </p:nvSpPr>
        <p:spPr>
          <a:xfrm>
            <a:off x="566928" y="4590288"/>
            <a:ext cx="502920"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18" name="Text 16"/>
          <p:cNvSpPr/>
          <p:nvPr/>
        </p:nvSpPr>
        <p:spPr>
          <a:xfrm>
            <a:off x="1234440" y="4471416"/>
            <a:ext cx="2651760" cy="329184"/>
          </a:xfrm>
          <a:prstGeom prst="rect">
            <a:avLst/>
          </a:prstGeom>
          <a:noFill/>
          <a:ln/>
        </p:spPr>
        <p:txBody>
          <a:bodyPr wrap="square" lIns="0" tIns="0" rIns="0" bIns="0" rtlCol="0" anchor="ctr"/>
          <a:lstStyle/>
          <a:p>
            <a:pPr marL="0" indent="0">
              <a:buNone/>
            </a:pPr>
            <a:r>
              <a:rPr lang="en-US" sz="1550" b="1" dirty="0">
                <a:solidFill>
                  <a:srgbClr val="16193B"/>
                </a:solidFill>
                <a:latin typeface="Cambria" pitchFamily="34" charset="0"/>
                <a:ea typeface="Cambria" pitchFamily="34" charset="-122"/>
                <a:cs typeface="Cambria" pitchFamily="34" charset="-120"/>
              </a:rPr>
              <a:t>Compliance gate</a:t>
            </a:r>
            <a:endParaRPr lang="en-US" sz="1550" dirty="0"/>
          </a:p>
        </p:txBody>
      </p:sp>
      <p:sp>
        <p:nvSpPr>
          <p:cNvPr id="19" name="Text 17"/>
          <p:cNvSpPr/>
          <p:nvPr/>
        </p:nvSpPr>
        <p:spPr>
          <a:xfrm>
            <a:off x="3977640" y="4453128"/>
            <a:ext cx="7635240" cy="731520"/>
          </a:xfrm>
          <a:prstGeom prst="rect">
            <a:avLst/>
          </a:prstGeom>
          <a:noFill/>
          <a:ln/>
        </p:spPr>
        <p:txBody>
          <a:bodyPr wrap="square" lIns="0" tIns="0" rIns="0" bIns="0" rtlCol="0" anchor="t"/>
          <a:lstStyle/>
          <a:p>
            <a:pPr marL="0" indent="0">
              <a:lnSpc>
                <a:spcPts val="1600"/>
              </a:lnSpc>
              <a:buNone/>
            </a:pPr>
            <a:r>
              <a:rPr lang="en-US" sz="1250" dirty="0">
                <a:solidFill>
                  <a:srgbClr val="5B6180"/>
                </a:solidFill>
                <a:latin typeface="Calibri" pitchFamily="34" charset="0"/>
                <a:ea typeface="Calibri" pitchFamily="34" charset="-122"/>
                <a:cs typeface="Calibri" pitchFamily="34" charset="-120"/>
              </a:rPr>
              <a:t>Every proposal passes a hard gate: notification timing, attempt caps, clearing calendars, absolute stop on hard declines.</a:t>
            </a:r>
            <a:endParaRPr lang="en-US" sz="1250" dirty="0"/>
          </a:p>
        </p:txBody>
      </p:sp>
      <p:sp>
        <p:nvSpPr>
          <p:cNvPr id="20" name="Shape 18"/>
          <p:cNvSpPr/>
          <p:nvPr/>
        </p:nvSpPr>
        <p:spPr>
          <a:xfrm>
            <a:off x="566928" y="5413248"/>
            <a:ext cx="502920" cy="502920"/>
          </a:xfrm>
          <a:prstGeom prst="ellipse">
            <a:avLst/>
          </a:prstGeom>
          <a:solidFill>
            <a:srgbClr val="1E2761"/>
          </a:solidFill>
          <a:ln/>
        </p:spPr>
      </p:sp>
      <p:sp>
        <p:nvSpPr>
          <p:cNvPr id="21" name="Text 19"/>
          <p:cNvSpPr/>
          <p:nvPr/>
        </p:nvSpPr>
        <p:spPr>
          <a:xfrm>
            <a:off x="566928" y="5495544"/>
            <a:ext cx="502920"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22" name="Text 20"/>
          <p:cNvSpPr/>
          <p:nvPr/>
        </p:nvSpPr>
        <p:spPr>
          <a:xfrm>
            <a:off x="1234440" y="5376672"/>
            <a:ext cx="2651760" cy="329184"/>
          </a:xfrm>
          <a:prstGeom prst="rect">
            <a:avLst/>
          </a:prstGeom>
          <a:noFill/>
          <a:ln/>
        </p:spPr>
        <p:txBody>
          <a:bodyPr wrap="square" lIns="0" tIns="0" rIns="0" bIns="0" rtlCol="0" anchor="ctr"/>
          <a:lstStyle/>
          <a:p>
            <a:pPr marL="0" indent="0">
              <a:buNone/>
            </a:pPr>
            <a:r>
              <a:rPr lang="en-US" sz="1550" b="1" dirty="0">
                <a:solidFill>
                  <a:srgbClr val="16193B"/>
                </a:solidFill>
                <a:latin typeface="Cambria" pitchFamily="34" charset="0"/>
                <a:ea typeface="Cambria" pitchFamily="34" charset="-122"/>
                <a:cs typeface="Cambria" pitchFamily="34" charset="-120"/>
              </a:rPr>
              <a:t>Paired measurement</a:t>
            </a:r>
            <a:endParaRPr lang="en-US" sz="1550" dirty="0"/>
          </a:p>
        </p:txBody>
      </p:sp>
      <p:sp>
        <p:nvSpPr>
          <p:cNvPr id="23" name="Text 21"/>
          <p:cNvSpPr/>
          <p:nvPr/>
        </p:nvSpPr>
        <p:spPr>
          <a:xfrm>
            <a:off x="3977640" y="5358384"/>
            <a:ext cx="7635240" cy="731520"/>
          </a:xfrm>
          <a:prstGeom prst="rect">
            <a:avLst/>
          </a:prstGeom>
          <a:noFill/>
          <a:ln/>
        </p:spPr>
        <p:txBody>
          <a:bodyPr wrap="square" lIns="0" tIns="0" rIns="0" bIns="0" rtlCol="0" anchor="t"/>
          <a:lstStyle/>
          <a:p>
            <a:pPr marL="0" indent="0">
              <a:lnSpc>
                <a:spcPts val="1600"/>
              </a:lnSpc>
              <a:buNone/>
            </a:pPr>
            <a:r>
              <a:rPr lang="en-US" sz="1250" dirty="0">
                <a:solidFill>
                  <a:srgbClr val="5B6180"/>
                </a:solidFill>
                <a:latin typeface="Calibri" pitchFamily="34" charset="0"/>
                <a:ea typeface="Calibri" pitchFamily="34" charset="-122"/>
                <a:cs typeface="Calibri" pitchFamily="34" charset="-120"/>
              </a:rPr>
              <a:t>24 seeds, bootstrap confidence intervals, Bonferroni correction across all 72 segment tests.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48640" y="502920"/>
            <a:ext cx="11064240" cy="54864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Why these numbers survive scrutiny</a:t>
            </a:r>
            <a:endParaRPr lang="en-US" sz="3200" dirty="0"/>
          </a:p>
        </p:txBody>
      </p:sp>
      <p:sp>
        <p:nvSpPr>
          <p:cNvPr id="3" name="Text 1"/>
          <p:cNvSpPr/>
          <p:nvPr/>
        </p:nvSpPr>
        <p:spPr>
          <a:xfrm>
            <a:off x="548640" y="1143000"/>
            <a:ext cx="11064240" cy="320040"/>
          </a:xfrm>
          <a:prstGeom prst="rect">
            <a:avLst/>
          </a:prstGeom>
          <a:noFill/>
          <a:ln/>
        </p:spPr>
        <p:txBody>
          <a:bodyPr wrap="square" lIns="0" tIns="0" rIns="0" bIns="0" rtlCol="0" anchor="ctr"/>
          <a:lstStyle/>
          <a:p>
            <a:pPr marL="0" indent="0">
              <a:buNone/>
            </a:pPr>
            <a:r>
              <a:rPr lang="en-US" sz="1400" dirty="0">
                <a:solidFill>
                  <a:srgbClr val="CADCFC"/>
                </a:solidFill>
                <a:latin typeface="Calibri" pitchFamily="34" charset="0"/>
                <a:ea typeface="Calibri" pitchFamily="34" charset="-122"/>
                <a:cs typeface="Calibri" pitchFamily="34" charset="-120"/>
              </a:rPr>
              <a:t>Four controls, each of which changed a conclusion during the study</a:t>
            </a:r>
            <a:endParaRPr lang="en-US" sz="1400" dirty="0"/>
          </a:p>
        </p:txBody>
      </p:sp>
      <p:sp>
        <p:nvSpPr>
          <p:cNvPr id="4" name="Shape 2"/>
          <p:cNvSpPr/>
          <p:nvPr/>
        </p:nvSpPr>
        <p:spPr>
          <a:xfrm>
            <a:off x="548640" y="1783080"/>
            <a:ext cx="5440680" cy="1874520"/>
          </a:xfrm>
          <a:prstGeom prst="roundRect">
            <a:avLst>
              <a:gd name="adj" fmla="val 2927"/>
            </a:avLst>
          </a:prstGeom>
          <a:solidFill>
            <a:srgbClr val="2A3271"/>
          </a:solidFill>
          <a:ln w="12700">
            <a:solidFill>
              <a:srgbClr val="3D4788"/>
            </a:solidFill>
            <a:prstDash val="solid"/>
          </a:ln>
        </p:spPr>
      </p:sp>
      <p:sp>
        <p:nvSpPr>
          <p:cNvPr id="5" name="Text 3"/>
          <p:cNvSpPr/>
          <p:nvPr/>
        </p:nvSpPr>
        <p:spPr>
          <a:xfrm>
            <a:off x="822960" y="1947672"/>
            <a:ext cx="4937760" cy="320040"/>
          </a:xfrm>
          <a:prstGeom prst="rect">
            <a:avLst/>
          </a:prstGeom>
          <a:noFill/>
          <a:ln/>
        </p:spPr>
        <p:txBody>
          <a:bodyPr wrap="square" lIns="0" tIns="0" rIns="0" bIns="0" rtlCol="0" anchor="ctr"/>
          <a:lstStyle/>
          <a:p>
            <a:pPr marL="0" indent="0">
              <a:buNone/>
            </a:pPr>
            <a:r>
              <a:rPr lang="en-US" sz="1700" b="1" dirty="0">
                <a:solidFill>
                  <a:srgbClr val="CADCFC"/>
                </a:solidFill>
                <a:latin typeface="Cambria" pitchFamily="34" charset="0"/>
                <a:ea typeface="Cambria" pitchFamily="34" charset="-122"/>
                <a:cs typeface="Cambria" pitchFamily="34" charset="-120"/>
              </a:rPr>
              <a:t>Negative control</a:t>
            </a:r>
            <a:endParaRPr lang="en-US" sz="1700" dirty="0"/>
          </a:p>
        </p:txBody>
      </p:sp>
      <p:sp>
        <p:nvSpPr>
          <p:cNvPr id="6" name="Text 4"/>
          <p:cNvSpPr/>
          <p:nvPr/>
        </p:nvSpPr>
        <p:spPr>
          <a:xfrm>
            <a:off x="822960" y="2331720"/>
            <a:ext cx="4937760" cy="1188720"/>
          </a:xfrm>
          <a:prstGeom prst="rect">
            <a:avLst/>
          </a:prstGeom>
          <a:noFill/>
          <a:ln/>
        </p:spPr>
        <p:txBody>
          <a:bodyPr wrap="square" lIns="0" tIns="0" rIns="0" bIns="0" rtlCol="0" anchor="t"/>
          <a:lstStyle/>
          <a:p>
            <a:pPr marL="0" indent="0">
              <a:lnSpc>
                <a:spcPts val="1500"/>
              </a:lnSpc>
              <a:buNone/>
            </a:pPr>
            <a:r>
              <a:rPr lang="en-US" sz="1150" dirty="0">
                <a:solidFill>
                  <a:srgbClr val="D8DEF5"/>
                </a:solidFill>
                <a:latin typeface="Calibri" pitchFamily="34" charset="0"/>
                <a:ea typeface="Calibri" pitchFamily="34" charset="-122"/>
                <a:cs typeface="Calibri" pitchFamily="34" charset="-120"/>
              </a:rPr>
              <a:t>A segmentation axis known to carry no signal is tested alongside the real ones. On the first run it produced two apparent winners at the raw level — both killed by correction. Proof the multiple-comparison machinery works, on data known to contain nothing.</a:t>
            </a:r>
            <a:endParaRPr lang="en-US" sz="1150" dirty="0"/>
          </a:p>
        </p:txBody>
      </p:sp>
      <p:sp>
        <p:nvSpPr>
          <p:cNvPr id="7" name="Shape 5"/>
          <p:cNvSpPr/>
          <p:nvPr/>
        </p:nvSpPr>
        <p:spPr>
          <a:xfrm>
            <a:off x="6172200" y="1783080"/>
            <a:ext cx="5440680" cy="1874520"/>
          </a:xfrm>
          <a:prstGeom prst="roundRect">
            <a:avLst>
              <a:gd name="adj" fmla="val 2927"/>
            </a:avLst>
          </a:prstGeom>
          <a:solidFill>
            <a:srgbClr val="2A3271"/>
          </a:solidFill>
          <a:ln w="12700">
            <a:solidFill>
              <a:srgbClr val="3D4788"/>
            </a:solidFill>
            <a:prstDash val="solid"/>
          </a:ln>
        </p:spPr>
      </p:sp>
      <p:sp>
        <p:nvSpPr>
          <p:cNvPr id="8" name="Text 6"/>
          <p:cNvSpPr/>
          <p:nvPr/>
        </p:nvSpPr>
        <p:spPr>
          <a:xfrm>
            <a:off x="6446520" y="1947672"/>
            <a:ext cx="4937760" cy="320040"/>
          </a:xfrm>
          <a:prstGeom prst="rect">
            <a:avLst/>
          </a:prstGeom>
          <a:noFill/>
          <a:ln/>
        </p:spPr>
        <p:txBody>
          <a:bodyPr wrap="square" lIns="0" tIns="0" rIns="0" bIns="0" rtlCol="0" anchor="ctr"/>
          <a:lstStyle/>
          <a:p>
            <a:pPr marL="0" indent="0">
              <a:buNone/>
            </a:pPr>
            <a:r>
              <a:rPr lang="en-US" sz="1700" b="1" dirty="0">
                <a:solidFill>
                  <a:srgbClr val="CADCFC"/>
                </a:solidFill>
                <a:latin typeface="Cambria" pitchFamily="34" charset="0"/>
                <a:ea typeface="Cambria" pitchFamily="34" charset="-122"/>
                <a:cs typeface="Cambria" pitchFamily="34" charset="-120"/>
              </a:rPr>
              <a:t>Multiplicity correction</a:t>
            </a:r>
            <a:endParaRPr lang="en-US" sz="1700" dirty="0"/>
          </a:p>
        </p:txBody>
      </p:sp>
      <p:sp>
        <p:nvSpPr>
          <p:cNvPr id="9" name="Text 7"/>
          <p:cNvSpPr/>
          <p:nvPr/>
        </p:nvSpPr>
        <p:spPr>
          <a:xfrm>
            <a:off x="6446520" y="2331720"/>
            <a:ext cx="4937760" cy="1188720"/>
          </a:xfrm>
          <a:prstGeom prst="rect">
            <a:avLst/>
          </a:prstGeom>
          <a:noFill/>
          <a:ln/>
        </p:spPr>
        <p:txBody>
          <a:bodyPr wrap="square" lIns="0" tIns="0" rIns="0" bIns="0" rtlCol="0" anchor="t"/>
          <a:lstStyle/>
          <a:p>
            <a:pPr marL="0" indent="0">
              <a:lnSpc>
                <a:spcPts val="1500"/>
              </a:lnSpc>
              <a:buNone/>
            </a:pPr>
            <a:r>
              <a:rPr lang="en-US" sz="1150" dirty="0">
                <a:solidFill>
                  <a:srgbClr val="D8DEF5"/>
                </a:solidFill>
                <a:latin typeface="Calibri" pitchFamily="34" charset="0"/>
                <a:ea typeface="Calibri" pitchFamily="34" charset="-122"/>
                <a:cs typeface="Calibri" pitchFamily="34" charset="-120"/>
              </a:rPr>
              <a:t>One correction family across all 72 segment tests. No uncorrected column is published anywhere, because the uncorrected column is the one that ends up in a deck.</a:t>
            </a:r>
            <a:endParaRPr lang="en-US" sz="1150" dirty="0"/>
          </a:p>
        </p:txBody>
      </p:sp>
      <p:sp>
        <p:nvSpPr>
          <p:cNvPr id="10" name="Shape 8"/>
          <p:cNvSpPr/>
          <p:nvPr/>
        </p:nvSpPr>
        <p:spPr>
          <a:xfrm>
            <a:off x="548640" y="3886200"/>
            <a:ext cx="5440680" cy="1874520"/>
          </a:xfrm>
          <a:prstGeom prst="roundRect">
            <a:avLst>
              <a:gd name="adj" fmla="val 2927"/>
            </a:avLst>
          </a:prstGeom>
          <a:solidFill>
            <a:srgbClr val="2A3271"/>
          </a:solidFill>
          <a:ln w="12700">
            <a:solidFill>
              <a:srgbClr val="3D4788"/>
            </a:solidFill>
            <a:prstDash val="solid"/>
          </a:ln>
        </p:spPr>
      </p:sp>
      <p:sp>
        <p:nvSpPr>
          <p:cNvPr id="11" name="Text 9"/>
          <p:cNvSpPr/>
          <p:nvPr/>
        </p:nvSpPr>
        <p:spPr>
          <a:xfrm>
            <a:off x="822960" y="4050792"/>
            <a:ext cx="4937760" cy="320040"/>
          </a:xfrm>
          <a:prstGeom prst="rect">
            <a:avLst/>
          </a:prstGeom>
          <a:noFill/>
          <a:ln/>
        </p:spPr>
        <p:txBody>
          <a:bodyPr wrap="square" lIns="0" tIns="0" rIns="0" bIns="0" rtlCol="0" anchor="ctr"/>
          <a:lstStyle/>
          <a:p>
            <a:pPr marL="0" indent="0">
              <a:buNone/>
            </a:pPr>
            <a:r>
              <a:rPr lang="en-US" sz="1700" b="1" dirty="0">
                <a:solidFill>
                  <a:srgbClr val="CADCFC"/>
                </a:solidFill>
                <a:latin typeface="Cambria" pitchFamily="34" charset="0"/>
                <a:ea typeface="Cambria" pitchFamily="34" charset="-122"/>
                <a:cs typeface="Cambria" pitchFamily="34" charset="-120"/>
              </a:rPr>
              <a:t>Sensitivity analysis</a:t>
            </a:r>
            <a:endParaRPr lang="en-US" sz="1700" dirty="0"/>
          </a:p>
        </p:txBody>
      </p:sp>
      <p:sp>
        <p:nvSpPr>
          <p:cNvPr id="12" name="Text 10"/>
          <p:cNvSpPr/>
          <p:nvPr/>
        </p:nvSpPr>
        <p:spPr>
          <a:xfrm>
            <a:off x="822960" y="4434840"/>
            <a:ext cx="4937760" cy="1188720"/>
          </a:xfrm>
          <a:prstGeom prst="rect">
            <a:avLst/>
          </a:prstGeom>
          <a:noFill/>
          <a:ln/>
        </p:spPr>
        <p:txBody>
          <a:bodyPr wrap="square" lIns="0" tIns="0" rIns="0" bIns="0" rtlCol="0" anchor="t"/>
          <a:lstStyle/>
          <a:p>
            <a:pPr marL="0" indent="0">
              <a:lnSpc>
                <a:spcPts val="1500"/>
              </a:lnSpc>
              <a:buNone/>
            </a:pPr>
            <a:r>
              <a:rPr lang="en-US" sz="1150" dirty="0">
                <a:solidFill>
                  <a:srgbClr val="D8DEF5"/>
                </a:solidFill>
                <a:latin typeface="Calibri" pitchFamily="34" charset="0"/>
                <a:ea typeface="Calibri" pitchFamily="34" charset="-122"/>
                <a:cs typeface="Calibri" pitchFamily="34" charset="-120"/>
              </a:rPr>
              <a:t>Every load-bearing assumption swept at full power. The result names which assumptions the conclusion is fragile to — including our own weakest.</a:t>
            </a:r>
            <a:endParaRPr lang="en-US" sz="1150" dirty="0"/>
          </a:p>
        </p:txBody>
      </p:sp>
      <p:sp>
        <p:nvSpPr>
          <p:cNvPr id="13" name="Shape 11"/>
          <p:cNvSpPr/>
          <p:nvPr/>
        </p:nvSpPr>
        <p:spPr>
          <a:xfrm>
            <a:off x="6172200" y="3886200"/>
            <a:ext cx="5440680" cy="1874520"/>
          </a:xfrm>
          <a:prstGeom prst="roundRect">
            <a:avLst>
              <a:gd name="adj" fmla="val 2927"/>
            </a:avLst>
          </a:prstGeom>
          <a:solidFill>
            <a:srgbClr val="2A3271"/>
          </a:solidFill>
          <a:ln w="12700">
            <a:solidFill>
              <a:srgbClr val="3D4788"/>
            </a:solidFill>
            <a:prstDash val="solid"/>
          </a:ln>
        </p:spPr>
      </p:sp>
      <p:sp>
        <p:nvSpPr>
          <p:cNvPr id="14" name="Text 12"/>
          <p:cNvSpPr/>
          <p:nvPr/>
        </p:nvSpPr>
        <p:spPr>
          <a:xfrm>
            <a:off x="6446520" y="4050792"/>
            <a:ext cx="4937760" cy="320040"/>
          </a:xfrm>
          <a:prstGeom prst="rect">
            <a:avLst/>
          </a:prstGeom>
          <a:noFill/>
          <a:ln/>
        </p:spPr>
        <p:txBody>
          <a:bodyPr wrap="square" lIns="0" tIns="0" rIns="0" bIns="0" rtlCol="0" anchor="ctr"/>
          <a:lstStyle/>
          <a:p>
            <a:pPr marL="0" indent="0">
              <a:buNone/>
            </a:pPr>
            <a:r>
              <a:rPr lang="en-US" sz="1700" b="1" dirty="0">
                <a:solidFill>
                  <a:srgbClr val="CADCFC"/>
                </a:solidFill>
                <a:latin typeface="Cambria" pitchFamily="34" charset="0"/>
                <a:ea typeface="Cambria" pitchFamily="34" charset="-122"/>
                <a:cs typeface="Cambria" pitchFamily="34" charset="-120"/>
              </a:rPr>
              <a:t>Reproducibility</a:t>
            </a:r>
            <a:endParaRPr lang="en-US" sz="1700" dirty="0"/>
          </a:p>
        </p:txBody>
      </p:sp>
      <p:sp>
        <p:nvSpPr>
          <p:cNvPr id="15" name="Text 13"/>
          <p:cNvSpPr/>
          <p:nvPr/>
        </p:nvSpPr>
        <p:spPr>
          <a:xfrm>
            <a:off x="6446520" y="4434840"/>
            <a:ext cx="4937760" cy="1188720"/>
          </a:xfrm>
          <a:prstGeom prst="rect">
            <a:avLst/>
          </a:prstGeom>
          <a:noFill/>
          <a:ln/>
        </p:spPr>
        <p:txBody>
          <a:bodyPr wrap="square" lIns="0" tIns="0" rIns="0" bIns="0" rtlCol="0" anchor="t"/>
          <a:lstStyle/>
          <a:p>
            <a:pPr marL="0" indent="0">
              <a:lnSpc>
                <a:spcPts val="1500"/>
              </a:lnSpc>
              <a:buNone/>
            </a:pPr>
            <a:r>
              <a:rPr lang="en-US" sz="1150" dirty="0">
                <a:solidFill>
                  <a:srgbClr val="D8DEF5"/>
                </a:solidFill>
                <a:latin typeface="Calibri" pitchFamily="34" charset="0"/>
                <a:ea typeface="Calibri" pitchFamily="34" charset="-122"/>
                <a:cs typeface="Calibri" pitchFamily="34" charset="-120"/>
              </a:rPr>
              <a:t>Same seed, identical output. Every export carries the config fingerprint it was produced under and refuses on mismatch.</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685800"/>
          </a:xfrm>
          <a:prstGeom prst="rect">
            <a:avLst/>
          </a:prstGeom>
          <a:noFill/>
          <a:ln/>
        </p:spPr>
        <p:txBody>
          <a:bodyPr wrap="square" lIns="0" tIns="0" rIns="0" bIns="0" rtlCol="0" anchor="ctr"/>
          <a:lstStyle/>
          <a:p>
            <a:pPr marL="0" indent="0">
              <a:buNone/>
            </a:pPr>
            <a:r>
              <a:rPr lang="en-US" sz="3200" b="1" dirty="0">
                <a:solidFill>
                  <a:srgbClr val="16193B"/>
                </a:solidFill>
                <a:latin typeface="Cambria" pitchFamily="34" charset="0"/>
                <a:ea typeface="Cambria" pitchFamily="34" charset="-122"/>
                <a:cs typeface="Cambria" pitchFamily="34" charset="-120"/>
              </a:rPr>
              <a:t>Finding 1 — the money is in plumbing, not intelligence</a:t>
            </a:r>
            <a:endParaRPr lang="en-US" sz="3200" dirty="0"/>
          </a:p>
        </p:txBody>
      </p:sp>
      <p:sp>
        <p:nvSpPr>
          <p:cNvPr id="3" name="Text 1"/>
          <p:cNvSpPr/>
          <p:nvPr/>
        </p:nvSpPr>
        <p:spPr>
          <a:xfrm>
            <a:off x="548640" y="1115568"/>
            <a:ext cx="11064240" cy="365760"/>
          </a:xfrm>
          <a:prstGeom prst="rect">
            <a:avLst/>
          </a:prstGeom>
          <a:noFill/>
          <a:ln/>
        </p:spPr>
        <p:txBody>
          <a:bodyPr wrap="square" lIns="0" tIns="0" rIns="0" bIns="0" rtlCol="0" anchor="ctr"/>
          <a:lstStyle/>
          <a:p>
            <a:pPr marL="0" indent="0">
              <a:buNone/>
            </a:pPr>
            <a:r>
              <a:rPr lang="en-US" sz="1400" dirty="0">
                <a:solidFill>
                  <a:srgbClr val="5B6180"/>
                </a:solidFill>
                <a:latin typeface="Calibri" pitchFamily="34" charset="0"/>
                <a:ea typeface="Calibri" pitchFamily="34" charset="-122"/>
                <a:cs typeface="Calibri" pitchFamily="34" charset="-120"/>
              </a:rPr>
              <a:t>Re-presenting a blocked retry is worth roughly four times the best retry logic, and it is the only lift significant under every failure profile</a:t>
            </a:r>
            <a:endParaRPr lang="en-US" sz="1400" dirty="0"/>
          </a:p>
        </p:txBody>
      </p:sp>
      <p:graphicFrame>
        <p:nvGraphicFramePr>
          <p:cNvPr id="4" name="Chart 0"/>
          <p:cNvGraphicFramePr/>
          <p:nvPr/>
        </p:nvGraphicFramePr>
        <p:xfrm>
          <a:off x="548640" y="1783080"/>
          <a:ext cx="6675120"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452360" y="1783080"/>
            <a:ext cx="4160520" cy="1691640"/>
          </a:xfrm>
          <a:prstGeom prst="roundRect">
            <a:avLst>
              <a:gd name="adj" fmla="val 3243"/>
            </a:avLst>
          </a:prstGeom>
          <a:solidFill>
            <a:srgbClr val="F1F4FB"/>
          </a:solidFill>
          <a:ln w="12700">
            <a:solidFill>
              <a:srgbClr val="DDE3F0"/>
            </a:solidFill>
            <a:prstDash val="solid"/>
          </a:ln>
        </p:spPr>
      </p:sp>
      <p:sp>
        <p:nvSpPr>
          <p:cNvPr id="6" name="Text 3"/>
          <p:cNvSpPr/>
          <p:nvPr/>
        </p:nvSpPr>
        <p:spPr>
          <a:xfrm>
            <a:off x="7726680" y="1956816"/>
            <a:ext cx="3657600" cy="292608"/>
          </a:xfrm>
          <a:prstGeom prst="rect">
            <a:avLst/>
          </a:prstGeom>
          <a:noFill/>
          <a:ln/>
        </p:spPr>
        <p:txBody>
          <a:bodyPr wrap="square" lIns="0" tIns="0" rIns="0" bIns="0"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What rescheduling is</a:t>
            </a:r>
            <a:endParaRPr lang="en-US" sz="1600" dirty="0"/>
          </a:p>
        </p:txBody>
      </p:sp>
      <p:sp>
        <p:nvSpPr>
          <p:cNvPr id="7" name="Text 4"/>
          <p:cNvSpPr/>
          <p:nvPr/>
        </p:nvSpPr>
        <p:spPr>
          <a:xfrm>
            <a:off x="7726680" y="2331720"/>
            <a:ext cx="3611880" cy="1051560"/>
          </a:xfrm>
          <a:prstGeom prst="rect">
            <a:avLst/>
          </a:prstGeom>
          <a:noFill/>
          <a:ln/>
        </p:spPr>
        <p:txBody>
          <a:bodyPr wrap="square" lIns="0" tIns="0" rIns="0" bIns="0" rtlCol="0" anchor="t"/>
          <a:lstStyle/>
          <a:p>
            <a:pPr marL="0" indent="0">
              <a:lnSpc>
                <a:spcPts val="1600"/>
              </a:lnSpc>
              <a:buNone/>
            </a:pPr>
            <a:r>
              <a:rPr lang="en-US" sz="1200" dirty="0">
                <a:solidFill>
                  <a:srgbClr val="5B6180"/>
                </a:solidFill>
                <a:latin typeface="Calibri" pitchFamily="34" charset="0"/>
                <a:ea typeface="Calibri" pitchFamily="34" charset="-122"/>
                <a:cs typeface="Calibri" pitchFamily="34" charset="-120"/>
              </a:rPr>
              <a:t>When a retry lands on a non-clearing day or past a batch cutoff, present it at the next valid slot instead of abandoning it. No reason codes. No inference. No model.</a:t>
            </a:r>
            <a:endParaRPr lang="en-US" sz="1200" dirty="0"/>
          </a:p>
        </p:txBody>
      </p:sp>
      <p:sp>
        <p:nvSpPr>
          <p:cNvPr id="8" name="Shape 5"/>
          <p:cNvSpPr/>
          <p:nvPr/>
        </p:nvSpPr>
        <p:spPr>
          <a:xfrm>
            <a:off x="7452360" y="3657600"/>
            <a:ext cx="4160520" cy="1783080"/>
          </a:xfrm>
          <a:prstGeom prst="roundRect">
            <a:avLst>
              <a:gd name="adj" fmla="val 3077"/>
            </a:avLst>
          </a:prstGeom>
          <a:solidFill>
            <a:srgbClr val="FBF3E8"/>
          </a:solidFill>
          <a:ln w="12700">
            <a:solidFill>
              <a:srgbClr val="DDE3F0"/>
            </a:solidFill>
            <a:prstDash val="solid"/>
          </a:ln>
        </p:spPr>
      </p:sp>
      <p:sp>
        <p:nvSpPr>
          <p:cNvPr id="9" name="Text 6"/>
          <p:cNvSpPr/>
          <p:nvPr/>
        </p:nvSpPr>
        <p:spPr>
          <a:xfrm>
            <a:off x="7726680" y="3831336"/>
            <a:ext cx="3657600" cy="292608"/>
          </a:xfrm>
          <a:prstGeom prst="rect">
            <a:avLst/>
          </a:prstGeom>
          <a:noFill/>
          <a:ln/>
        </p:spPr>
        <p:txBody>
          <a:bodyPr wrap="square" lIns="0" tIns="0" rIns="0" bIns="0" rtlCol="0" anchor="ctr"/>
          <a:lstStyle/>
          <a:p>
            <a:pPr marL="0" indent="0">
              <a:buNone/>
            </a:pPr>
            <a:r>
              <a:rPr lang="en-US" sz="1600" b="1" dirty="0">
                <a:solidFill>
                  <a:srgbClr val="C2740A"/>
                </a:solidFill>
                <a:latin typeface="Cambria" pitchFamily="34" charset="0"/>
                <a:ea typeface="Cambria" pitchFamily="34" charset="-122"/>
                <a:cs typeface="Cambria" pitchFamily="34" charset="-120"/>
              </a:rPr>
              <a:t>Why it is separated</a:t>
            </a:r>
            <a:endParaRPr lang="en-US" sz="1600" dirty="0"/>
          </a:p>
        </p:txBody>
      </p:sp>
      <p:sp>
        <p:nvSpPr>
          <p:cNvPr id="10" name="Text 7"/>
          <p:cNvSpPr/>
          <p:nvPr/>
        </p:nvSpPr>
        <p:spPr>
          <a:xfrm>
            <a:off x="7726680" y="4206240"/>
            <a:ext cx="3611880" cy="1143000"/>
          </a:xfrm>
          <a:prstGeom prst="rect">
            <a:avLst/>
          </a:prstGeom>
          <a:noFill/>
          <a:ln/>
        </p:spPr>
        <p:txBody>
          <a:bodyPr wrap="square" lIns="0" tIns="0" rIns="0" bIns="0" rtlCol="0" anchor="t"/>
          <a:lstStyle/>
          <a:p>
            <a:pPr marL="0" indent="0">
              <a:lnSpc>
                <a:spcPts val="1600"/>
              </a:lnSpc>
              <a:buNone/>
            </a:pPr>
            <a:r>
              <a:rPr lang="en-US" sz="1200" dirty="0">
                <a:solidFill>
                  <a:srgbClr val="5B6180"/>
                </a:solidFill>
                <a:latin typeface="Calibri" pitchFamily="34" charset="0"/>
                <a:ea typeface="Calibri" pitchFamily="34" charset="-122"/>
                <a:cs typeface="Calibri" pitchFamily="34" charset="-120"/>
              </a:rPr>
              <a:t>The two figures are never summed, in the model or the interface. Quoting a combined number would sell scheduler plumbing as intelligence — and plumbing is what any competent stack can build.</a:t>
            </a:r>
            <a:endParaRPr lang="en-US" sz="1200" dirty="0"/>
          </a:p>
        </p:txBody>
      </p:sp>
      <p:sp>
        <p:nvSpPr>
          <p:cNvPr id="11" name="Text 8"/>
          <p:cNvSpPr/>
          <p:nvPr/>
        </p:nvSpPr>
        <p:spPr>
          <a:xfrm>
            <a:off x="548640" y="6327648"/>
            <a:ext cx="11064240" cy="274320"/>
          </a:xfrm>
          <a:prstGeom prst="rect">
            <a:avLst/>
          </a:prstGeom>
          <a:noFill/>
          <a:ln/>
        </p:spPr>
        <p:txBody>
          <a:bodyPr wrap="square" lIns="0" tIns="0" rIns="0" bIns="0" rtlCol="0" anchor="ctr"/>
          <a:lstStyle/>
          <a:p>
            <a:pPr marL="0" indent="0">
              <a:buNone/>
            </a:pPr>
            <a:r>
              <a:rPr lang="en-US" sz="900" i="1" dirty="0">
                <a:solidFill>
                  <a:srgbClr val="8A90AB"/>
                </a:solidFill>
                <a:latin typeface="Calibri" pitchFamily="34" charset="0"/>
                <a:ea typeface="Calibri" pitchFamily="34" charset="-122"/>
                <a:cs typeface="Calibri" pitchFamily="34" charset="-120"/>
              </a:rPr>
              <a:t>Paired comparison, 400 mandates x 12 months x 24 seeds, 90% bootstrap intervals. Simulated result — see limitations.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685800"/>
          </a:xfrm>
          <a:prstGeom prst="rect">
            <a:avLst/>
          </a:prstGeom>
          <a:noFill/>
          <a:ln/>
        </p:spPr>
        <p:txBody>
          <a:bodyPr wrap="square" lIns="0" tIns="0" rIns="0" bIns="0" rtlCol="0" anchor="ctr"/>
          <a:lstStyle/>
          <a:p>
            <a:pPr marL="0" indent="0">
              <a:buNone/>
            </a:pPr>
            <a:r>
              <a:rPr lang="en-US" sz="3200" b="1" dirty="0">
                <a:solidFill>
                  <a:srgbClr val="16193B"/>
                </a:solidFill>
                <a:latin typeface="Cambria" pitchFamily="34" charset="0"/>
                <a:ea typeface="Cambria" pitchFamily="34" charset="-122"/>
                <a:cs typeface="Cambria" pitchFamily="34" charset="-120"/>
              </a:rPr>
              <a:t>Finding 2 — intelligence pays only for some books</a:t>
            </a:r>
            <a:endParaRPr lang="en-US" sz="3200" dirty="0"/>
          </a:p>
        </p:txBody>
      </p:sp>
      <p:sp>
        <p:nvSpPr>
          <p:cNvPr id="3" name="Text 1"/>
          <p:cNvSpPr/>
          <p:nvPr/>
        </p:nvSpPr>
        <p:spPr>
          <a:xfrm>
            <a:off x="548640" y="1115568"/>
            <a:ext cx="11064240" cy="365760"/>
          </a:xfrm>
          <a:prstGeom prst="rect">
            <a:avLst/>
          </a:prstGeom>
          <a:noFill/>
          <a:ln/>
        </p:spPr>
        <p:txBody>
          <a:bodyPr wrap="square" lIns="0" tIns="0" rIns="0" bIns="0" rtlCol="0" anchor="ctr"/>
          <a:lstStyle/>
          <a:p>
            <a:pPr marL="0" indent="0">
              <a:buNone/>
            </a:pPr>
            <a:r>
              <a:rPr lang="en-US" sz="1400" dirty="0">
                <a:solidFill>
                  <a:srgbClr val="5B6180"/>
                </a:solidFill>
                <a:latin typeface="Calibri" pitchFamily="34" charset="0"/>
                <a:ea typeface="Calibri" pitchFamily="34" charset="-122"/>
                <a:cs typeface="Calibri" pitchFamily="34" charset="-120"/>
              </a:rPr>
              <a:t>Strategy lift varies roughly 17-fold with a merchant's dominant failure reason. This is a qualifying question, not a footnote.</a:t>
            </a:r>
            <a:endParaRPr lang="en-US" sz="1400" dirty="0"/>
          </a:p>
        </p:txBody>
      </p:sp>
      <p:sp>
        <p:nvSpPr>
          <p:cNvPr id="4" name="Shape 2"/>
          <p:cNvSpPr/>
          <p:nvPr/>
        </p:nvSpPr>
        <p:spPr>
          <a:xfrm>
            <a:off x="548640" y="1874520"/>
            <a:ext cx="11064240" cy="566928"/>
          </a:xfrm>
          <a:prstGeom prst="rect">
            <a:avLst/>
          </a:prstGeom>
          <a:solidFill>
            <a:srgbClr val="1E2761"/>
          </a:solidFill>
          <a:ln/>
        </p:spPr>
      </p:sp>
      <p:sp>
        <p:nvSpPr>
          <p:cNvPr id="5" name="Text 3"/>
          <p:cNvSpPr/>
          <p:nvPr/>
        </p:nvSpPr>
        <p:spPr>
          <a:xfrm>
            <a:off x="777240" y="2002536"/>
            <a:ext cx="3200400" cy="329184"/>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Failure profile</a:t>
            </a:r>
            <a:endParaRPr lang="en-US" sz="1250" dirty="0"/>
          </a:p>
        </p:txBody>
      </p:sp>
      <p:sp>
        <p:nvSpPr>
          <p:cNvPr id="6" name="Text 4"/>
          <p:cNvSpPr/>
          <p:nvPr/>
        </p:nvSpPr>
        <p:spPr>
          <a:xfrm>
            <a:off x="4114800" y="2011680"/>
            <a:ext cx="2651760" cy="310896"/>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Rescheduling lift</a:t>
            </a:r>
            <a:endParaRPr lang="en-US" sz="1250" dirty="0"/>
          </a:p>
        </p:txBody>
      </p:sp>
      <p:sp>
        <p:nvSpPr>
          <p:cNvPr id="7" name="Text 5"/>
          <p:cNvSpPr/>
          <p:nvPr/>
        </p:nvSpPr>
        <p:spPr>
          <a:xfrm>
            <a:off x="6858000" y="2011680"/>
            <a:ext cx="2560320" cy="310896"/>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Strategy lift</a:t>
            </a:r>
            <a:endParaRPr lang="en-US" sz="1250" dirty="0"/>
          </a:p>
        </p:txBody>
      </p:sp>
      <p:sp>
        <p:nvSpPr>
          <p:cNvPr id="8" name="Text 6"/>
          <p:cNvSpPr/>
          <p:nvPr/>
        </p:nvSpPr>
        <p:spPr>
          <a:xfrm>
            <a:off x="9509760" y="2011680"/>
            <a:ext cx="1920240" cy="310896"/>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Verdict</a:t>
            </a:r>
            <a:endParaRPr lang="en-US" sz="1250" dirty="0"/>
          </a:p>
        </p:txBody>
      </p:sp>
      <p:sp>
        <p:nvSpPr>
          <p:cNvPr id="9" name="Shape 7"/>
          <p:cNvSpPr/>
          <p:nvPr/>
        </p:nvSpPr>
        <p:spPr>
          <a:xfrm>
            <a:off x="548640" y="2532888"/>
            <a:ext cx="11064240" cy="566928"/>
          </a:xfrm>
          <a:prstGeom prst="rect">
            <a:avLst/>
          </a:prstGeom>
          <a:solidFill>
            <a:srgbClr val="FFFFFF"/>
          </a:solidFill>
          <a:ln w="9525">
            <a:solidFill>
              <a:srgbClr val="DDE3F0"/>
            </a:solidFill>
            <a:prstDash val="solid"/>
          </a:ln>
        </p:spPr>
      </p:sp>
      <p:sp>
        <p:nvSpPr>
          <p:cNvPr id="10" name="Text 8"/>
          <p:cNvSpPr/>
          <p:nvPr/>
        </p:nvSpPr>
        <p:spPr>
          <a:xfrm>
            <a:off x="777240" y="2660904"/>
            <a:ext cx="3200400" cy="329184"/>
          </a:xfrm>
          <a:prstGeom prst="rect">
            <a:avLst/>
          </a:prstGeom>
          <a:noFill/>
          <a:ln/>
        </p:spPr>
        <p:txBody>
          <a:bodyPr wrap="square" lIns="0" tIns="0" rIns="0" bIns="0" rtlCol="0" anchor="ctr"/>
          <a:lstStyle/>
          <a:p>
            <a:pPr marL="0" indent="0">
              <a:buNone/>
            </a:pPr>
            <a:r>
              <a:rPr lang="en-US" sz="1300" b="1" dirty="0">
                <a:solidFill>
                  <a:srgbClr val="16193B"/>
                </a:solidFill>
                <a:latin typeface="Cambria" pitchFamily="34" charset="0"/>
                <a:ea typeface="Cambria" pitchFamily="34" charset="-122"/>
                <a:cs typeface="Cambria" pitchFamily="34" charset="-120"/>
              </a:rPr>
              <a:t>Insufficient-funds dominant</a:t>
            </a:r>
            <a:endParaRPr lang="en-US" sz="1300" dirty="0"/>
          </a:p>
        </p:txBody>
      </p:sp>
      <p:sp>
        <p:nvSpPr>
          <p:cNvPr id="11" name="Text 9"/>
          <p:cNvSpPr/>
          <p:nvPr/>
        </p:nvSpPr>
        <p:spPr>
          <a:xfrm>
            <a:off x="4114800" y="2670048"/>
            <a:ext cx="2651760" cy="310896"/>
          </a:xfrm>
          <a:prstGeom prst="rect">
            <a:avLst/>
          </a:prstGeom>
          <a:noFill/>
          <a:ln/>
        </p:spPr>
        <p:txBody>
          <a:bodyPr wrap="square" lIns="0" tIns="0" rIns="0" bIns="0" rtlCol="0" anchor="ctr"/>
          <a:lstStyle/>
          <a:p>
            <a:pPr marL="0" indent="0">
              <a:buNone/>
            </a:pPr>
            <a:r>
              <a:rPr lang="en-US" sz="1300" dirty="0">
                <a:solidFill>
                  <a:srgbClr val="1E2761"/>
                </a:solidFill>
                <a:latin typeface="Calibri" pitchFamily="34" charset="0"/>
                <a:ea typeface="Calibri" pitchFamily="34" charset="-122"/>
                <a:cs typeface="Calibri" pitchFamily="34" charset="-120"/>
              </a:rPr>
              <a:t>₹11,486 – ₹15,375</a:t>
            </a:r>
            <a:endParaRPr lang="en-US" sz="1300" dirty="0"/>
          </a:p>
        </p:txBody>
      </p:sp>
      <p:sp>
        <p:nvSpPr>
          <p:cNvPr id="12" name="Text 10"/>
          <p:cNvSpPr/>
          <p:nvPr/>
        </p:nvSpPr>
        <p:spPr>
          <a:xfrm>
            <a:off x="6858000" y="2670048"/>
            <a:ext cx="2560320" cy="310896"/>
          </a:xfrm>
          <a:prstGeom prst="rect">
            <a:avLst/>
          </a:prstGeom>
          <a:noFill/>
          <a:ln/>
        </p:spPr>
        <p:txBody>
          <a:bodyPr wrap="square" lIns="0" tIns="0" rIns="0" bIns="0" rtlCol="0" anchor="ctr"/>
          <a:lstStyle/>
          <a:p>
            <a:pPr marL="0" indent="0">
              <a:buNone/>
            </a:pPr>
            <a:r>
              <a:rPr lang="en-US" sz="1300" dirty="0">
                <a:solidFill>
                  <a:srgbClr val="5B6180"/>
                </a:solidFill>
                <a:latin typeface="Calibri" pitchFamily="34" charset="0"/>
                <a:ea typeface="Calibri" pitchFamily="34" charset="-122"/>
                <a:cs typeface="Calibri" pitchFamily="34" charset="-120"/>
              </a:rPr>
              <a:t>₹2,862 – ₹12,123</a:t>
            </a:r>
            <a:endParaRPr lang="en-US" sz="1300" dirty="0"/>
          </a:p>
        </p:txBody>
      </p:sp>
      <p:sp>
        <p:nvSpPr>
          <p:cNvPr id="13" name="Text 11"/>
          <p:cNvSpPr/>
          <p:nvPr/>
        </p:nvSpPr>
        <p:spPr>
          <a:xfrm>
            <a:off x="9509760" y="2670048"/>
            <a:ext cx="1920240" cy="310896"/>
          </a:xfrm>
          <a:prstGeom prst="rect">
            <a:avLst/>
          </a:prstGeom>
          <a:noFill/>
          <a:ln/>
        </p:spPr>
        <p:txBody>
          <a:bodyPr wrap="square" lIns="0" tIns="0" rIns="0" bIns="0" rtlCol="0" anchor="ctr"/>
          <a:lstStyle/>
          <a:p>
            <a:pPr marL="0" indent="0">
              <a:buNone/>
            </a:pPr>
            <a:r>
              <a:rPr lang="en-US" sz="1300" i="1" dirty="0">
                <a:solidFill>
                  <a:srgbClr val="5B6180"/>
                </a:solidFill>
                <a:latin typeface="Calibri" pitchFamily="34" charset="0"/>
                <a:ea typeface="Calibri" pitchFamily="34" charset="-122"/>
                <a:cs typeface="Calibri" pitchFamily="34" charset="-120"/>
              </a:rPr>
              <a:t>Both tiers pay</a:t>
            </a:r>
            <a:endParaRPr lang="en-US" sz="1300" dirty="0"/>
          </a:p>
        </p:txBody>
      </p:sp>
      <p:sp>
        <p:nvSpPr>
          <p:cNvPr id="14" name="Shape 12"/>
          <p:cNvSpPr/>
          <p:nvPr/>
        </p:nvSpPr>
        <p:spPr>
          <a:xfrm>
            <a:off x="548640" y="3191256"/>
            <a:ext cx="11064240" cy="566928"/>
          </a:xfrm>
          <a:prstGeom prst="rect">
            <a:avLst/>
          </a:prstGeom>
          <a:solidFill>
            <a:srgbClr val="F6F8FC"/>
          </a:solidFill>
          <a:ln w="9525">
            <a:solidFill>
              <a:srgbClr val="DDE3F0"/>
            </a:solidFill>
            <a:prstDash val="solid"/>
          </a:ln>
        </p:spPr>
      </p:sp>
      <p:sp>
        <p:nvSpPr>
          <p:cNvPr id="15" name="Text 13"/>
          <p:cNvSpPr/>
          <p:nvPr/>
        </p:nvSpPr>
        <p:spPr>
          <a:xfrm>
            <a:off x="777240" y="3319272"/>
            <a:ext cx="3200400" cy="329184"/>
          </a:xfrm>
          <a:prstGeom prst="rect">
            <a:avLst/>
          </a:prstGeom>
          <a:noFill/>
          <a:ln/>
        </p:spPr>
        <p:txBody>
          <a:bodyPr wrap="square" lIns="0" tIns="0" rIns="0" bIns="0" rtlCol="0" anchor="ctr"/>
          <a:lstStyle/>
          <a:p>
            <a:pPr marL="0" indent="0">
              <a:buNone/>
            </a:pPr>
            <a:r>
              <a:rPr lang="en-US" sz="1300" b="1" dirty="0">
                <a:solidFill>
                  <a:srgbClr val="16193B"/>
                </a:solidFill>
                <a:latin typeface="Cambria" pitchFamily="34" charset="0"/>
                <a:ea typeface="Cambria" pitchFamily="34" charset="-122"/>
                <a:cs typeface="Cambria" pitchFamily="34" charset="-120"/>
              </a:rPr>
              <a:t>As shipped (mixed)</a:t>
            </a:r>
            <a:endParaRPr lang="en-US" sz="1300" dirty="0"/>
          </a:p>
        </p:txBody>
      </p:sp>
      <p:sp>
        <p:nvSpPr>
          <p:cNvPr id="16" name="Text 14"/>
          <p:cNvSpPr/>
          <p:nvPr/>
        </p:nvSpPr>
        <p:spPr>
          <a:xfrm>
            <a:off x="4114800" y="3328416"/>
            <a:ext cx="2651760" cy="310896"/>
          </a:xfrm>
          <a:prstGeom prst="rect">
            <a:avLst/>
          </a:prstGeom>
          <a:noFill/>
          <a:ln/>
        </p:spPr>
        <p:txBody>
          <a:bodyPr wrap="square" lIns="0" tIns="0" rIns="0" bIns="0" rtlCol="0" anchor="ctr"/>
          <a:lstStyle/>
          <a:p>
            <a:pPr marL="0" indent="0">
              <a:buNone/>
            </a:pPr>
            <a:r>
              <a:rPr lang="en-US" sz="1300" dirty="0">
                <a:solidFill>
                  <a:srgbClr val="1E2761"/>
                </a:solidFill>
                <a:latin typeface="Calibri" pitchFamily="34" charset="0"/>
                <a:ea typeface="Calibri" pitchFamily="34" charset="-122"/>
                <a:cs typeface="Calibri" pitchFamily="34" charset="-120"/>
              </a:rPr>
              <a:t>₹6,998 – ₹10,144</a:t>
            </a:r>
            <a:endParaRPr lang="en-US" sz="1300" dirty="0"/>
          </a:p>
        </p:txBody>
      </p:sp>
      <p:sp>
        <p:nvSpPr>
          <p:cNvPr id="17" name="Text 15"/>
          <p:cNvSpPr/>
          <p:nvPr/>
        </p:nvSpPr>
        <p:spPr>
          <a:xfrm>
            <a:off x="6858000" y="3328416"/>
            <a:ext cx="2560320" cy="310896"/>
          </a:xfrm>
          <a:prstGeom prst="rect">
            <a:avLst/>
          </a:prstGeom>
          <a:noFill/>
          <a:ln/>
        </p:spPr>
        <p:txBody>
          <a:bodyPr wrap="square" lIns="0" tIns="0" rIns="0" bIns="0" rtlCol="0" anchor="ctr"/>
          <a:lstStyle/>
          <a:p>
            <a:pPr marL="0" indent="0">
              <a:buNone/>
            </a:pPr>
            <a:r>
              <a:rPr lang="en-US" sz="1300" dirty="0">
                <a:solidFill>
                  <a:srgbClr val="5B6180"/>
                </a:solidFill>
                <a:latin typeface="Calibri" pitchFamily="34" charset="0"/>
                <a:ea typeface="Calibri" pitchFamily="34" charset="-122"/>
                <a:cs typeface="Calibri" pitchFamily="34" charset="-120"/>
              </a:rPr>
              <a:t>₹990 – ₹5,903</a:t>
            </a:r>
            <a:endParaRPr lang="en-US" sz="1300" dirty="0"/>
          </a:p>
        </p:txBody>
      </p:sp>
      <p:sp>
        <p:nvSpPr>
          <p:cNvPr id="18" name="Text 16"/>
          <p:cNvSpPr/>
          <p:nvPr/>
        </p:nvSpPr>
        <p:spPr>
          <a:xfrm>
            <a:off x="9509760" y="3328416"/>
            <a:ext cx="1920240" cy="310896"/>
          </a:xfrm>
          <a:prstGeom prst="rect">
            <a:avLst/>
          </a:prstGeom>
          <a:noFill/>
          <a:ln/>
        </p:spPr>
        <p:txBody>
          <a:bodyPr wrap="square" lIns="0" tIns="0" rIns="0" bIns="0" rtlCol="0" anchor="ctr"/>
          <a:lstStyle/>
          <a:p>
            <a:pPr marL="0" indent="0">
              <a:buNone/>
            </a:pPr>
            <a:r>
              <a:rPr lang="en-US" sz="1300" i="1" dirty="0">
                <a:solidFill>
                  <a:srgbClr val="5B6180"/>
                </a:solidFill>
                <a:latin typeface="Calibri" pitchFamily="34" charset="0"/>
                <a:ea typeface="Calibri" pitchFamily="34" charset="-122"/>
                <a:cs typeface="Calibri" pitchFamily="34" charset="-120"/>
              </a:rPr>
              <a:t>Plumbing dominates</a:t>
            </a:r>
            <a:endParaRPr lang="en-US" sz="1300" dirty="0"/>
          </a:p>
        </p:txBody>
      </p:sp>
      <p:sp>
        <p:nvSpPr>
          <p:cNvPr id="19" name="Shape 17"/>
          <p:cNvSpPr/>
          <p:nvPr/>
        </p:nvSpPr>
        <p:spPr>
          <a:xfrm>
            <a:off x="548640" y="3849624"/>
            <a:ext cx="11064240" cy="566928"/>
          </a:xfrm>
          <a:prstGeom prst="rect">
            <a:avLst/>
          </a:prstGeom>
          <a:solidFill>
            <a:srgbClr val="FFFFFF"/>
          </a:solidFill>
          <a:ln w="9525">
            <a:solidFill>
              <a:srgbClr val="DDE3F0"/>
            </a:solidFill>
            <a:prstDash val="solid"/>
          </a:ln>
        </p:spPr>
      </p:sp>
      <p:sp>
        <p:nvSpPr>
          <p:cNvPr id="20" name="Text 18"/>
          <p:cNvSpPr/>
          <p:nvPr/>
        </p:nvSpPr>
        <p:spPr>
          <a:xfrm>
            <a:off x="777240" y="3977640"/>
            <a:ext cx="3200400" cy="329184"/>
          </a:xfrm>
          <a:prstGeom prst="rect">
            <a:avLst/>
          </a:prstGeom>
          <a:noFill/>
          <a:ln/>
        </p:spPr>
        <p:txBody>
          <a:bodyPr wrap="square" lIns="0" tIns="0" rIns="0" bIns="0" rtlCol="0" anchor="ctr"/>
          <a:lstStyle/>
          <a:p>
            <a:pPr marL="0" indent="0">
              <a:buNone/>
            </a:pPr>
            <a:r>
              <a:rPr lang="en-US" sz="1300" b="1" dirty="0">
                <a:solidFill>
                  <a:srgbClr val="16193B"/>
                </a:solidFill>
                <a:latin typeface="Cambria" pitchFamily="34" charset="0"/>
                <a:ea typeface="Cambria" pitchFamily="34" charset="-122"/>
                <a:cs typeface="Cambria" pitchFamily="34" charset="-120"/>
              </a:rPr>
              <a:t>Technical dominant</a:t>
            </a:r>
            <a:endParaRPr lang="en-US" sz="1300" dirty="0"/>
          </a:p>
        </p:txBody>
      </p:sp>
      <p:sp>
        <p:nvSpPr>
          <p:cNvPr id="21" name="Text 19"/>
          <p:cNvSpPr/>
          <p:nvPr/>
        </p:nvSpPr>
        <p:spPr>
          <a:xfrm>
            <a:off x="4114800" y="3986784"/>
            <a:ext cx="2651760" cy="310896"/>
          </a:xfrm>
          <a:prstGeom prst="rect">
            <a:avLst/>
          </a:prstGeom>
          <a:noFill/>
          <a:ln/>
        </p:spPr>
        <p:txBody>
          <a:bodyPr wrap="square" lIns="0" tIns="0" rIns="0" bIns="0" rtlCol="0" anchor="ctr"/>
          <a:lstStyle/>
          <a:p>
            <a:pPr marL="0" indent="0">
              <a:buNone/>
            </a:pPr>
            <a:r>
              <a:rPr lang="en-US" sz="1300" dirty="0">
                <a:solidFill>
                  <a:srgbClr val="1E2761"/>
                </a:solidFill>
                <a:latin typeface="Calibri" pitchFamily="34" charset="0"/>
                <a:ea typeface="Calibri" pitchFamily="34" charset="-122"/>
                <a:cs typeface="Calibri" pitchFamily="34" charset="-120"/>
              </a:rPr>
              <a:t>₹11,982 – ₹14,704</a:t>
            </a:r>
            <a:endParaRPr lang="en-US" sz="1300" dirty="0"/>
          </a:p>
        </p:txBody>
      </p:sp>
      <p:sp>
        <p:nvSpPr>
          <p:cNvPr id="22" name="Text 20"/>
          <p:cNvSpPr/>
          <p:nvPr/>
        </p:nvSpPr>
        <p:spPr>
          <a:xfrm>
            <a:off x="6858000" y="3986784"/>
            <a:ext cx="2560320" cy="310896"/>
          </a:xfrm>
          <a:prstGeom prst="rect">
            <a:avLst/>
          </a:prstGeom>
          <a:noFill/>
          <a:ln/>
        </p:spPr>
        <p:txBody>
          <a:bodyPr wrap="square" lIns="0" tIns="0" rIns="0" bIns="0" rtlCol="0" anchor="ctr"/>
          <a:lstStyle/>
          <a:p>
            <a:pPr marL="0" indent="0">
              <a:buNone/>
            </a:pPr>
            <a:r>
              <a:rPr lang="en-US" sz="1300" dirty="0">
                <a:solidFill>
                  <a:srgbClr val="5B6180"/>
                </a:solidFill>
                <a:latin typeface="Calibri" pitchFamily="34" charset="0"/>
                <a:ea typeface="Calibri" pitchFamily="34" charset="-122"/>
                <a:cs typeface="Calibri" pitchFamily="34" charset="-120"/>
              </a:rPr>
              <a:t>₹71 – ₹1,803</a:t>
            </a:r>
            <a:endParaRPr lang="en-US" sz="1300" dirty="0"/>
          </a:p>
        </p:txBody>
      </p:sp>
      <p:sp>
        <p:nvSpPr>
          <p:cNvPr id="23" name="Text 21"/>
          <p:cNvSpPr/>
          <p:nvPr/>
        </p:nvSpPr>
        <p:spPr>
          <a:xfrm>
            <a:off x="9509760" y="3986784"/>
            <a:ext cx="1920240" cy="310896"/>
          </a:xfrm>
          <a:prstGeom prst="rect">
            <a:avLst/>
          </a:prstGeom>
          <a:noFill/>
          <a:ln/>
        </p:spPr>
        <p:txBody>
          <a:bodyPr wrap="square" lIns="0" tIns="0" rIns="0" bIns="0" rtlCol="0" anchor="ctr"/>
          <a:lstStyle/>
          <a:p>
            <a:pPr marL="0" indent="0">
              <a:buNone/>
            </a:pPr>
            <a:r>
              <a:rPr lang="en-US" sz="1300" i="1" dirty="0">
                <a:solidFill>
                  <a:srgbClr val="5B6180"/>
                </a:solidFill>
                <a:latin typeface="Calibri" pitchFamily="34" charset="0"/>
                <a:ea typeface="Calibri" pitchFamily="34" charset="-122"/>
                <a:cs typeface="Calibri" pitchFamily="34" charset="-120"/>
              </a:rPr>
              <a:t>Plumbing only</a:t>
            </a:r>
            <a:endParaRPr lang="en-US" sz="1300" dirty="0"/>
          </a:p>
        </p:txBody>
      </p:sp>
      <p:sp>
        <p:nvSpPr>
          <p:cNvPr id="24" name="Text 22"/>
          <p:cNvSpPr/>
          <p:nvPr/>
        </p:nvSpPr>
        <p:spPr>
          <a:xfrm>
            <a:off x="548640" y="4572000"/>
            <a:ext cx="11064240" cy="274320"/>
          </a:xfrm>
          <a:prstGeom prst="rect">
            <a:avLst/>
          </a:prstGeom>
          <a:noFill/>
          <a:ln/>
        </p:spPr>
        <p:txBody>
          <a:bodyPr wrap="square" lIns="0" tIns="0" rIns="0" bIns="0" rtlCol="0" anchor="ctr"/>
          <a:lstStyle/>
          <a:p>
            <a:pPr marL="0" indent="0">
              <a:buNone/>
            </a:pPr>
            <a:r>
              <a:rPr lang="en-US" sz="1150" i="1" dirty="0">
                <a:solidFill>
                  <a:srgbClr val="8A90AB"/>
                </a:solidFill>
                <a:latin typeface="Calibri" pitchFamily="34" charset="0"/>
                <a:ea typeface="Calibri" pitchFamily="34" charset="-122"/>
                <a:cs typeface="Calibri" pitchFamily="34" charset="-120"/>
              </a:rPr>
              <a:t>Net annual value per 400-mandate book, after performance fee, at 90% confidence.</a:t>
            </a:r>
            <a:endParaRPr lang="en-US" sz="1150" dirty="0"/>
          </a:p>
        </p:txBody>
      </p:sp>
      <p:sp>
        <p:nvSpPr>
          <p:cNvPr id="25" name="Shape 23"/>
          <p:cNvSpPr/>
          <p:nvPr/>
        </p:nvSpPr>
        <p:spPr>
          <a:xfrm>
            <a:off x="548640" y="5029200"/>
            <a:ext cx="11064240" cy="1097280"/>
          </a:xfrm>
          <a:prstGeom prst="roundRect">
            <a:avLst>
              <a:gd name="adj" fmla="val 5000"/>
            </a:avLst>
          </a:prstGeom>
          <a:solidFill>
            <a:srgbClr val="EAF2F2"/>
          </a:solidFill>
          <a:ln w="12700">
            <a:solidFill>
              <a:srgbClr val="DDE3F0"/>
            </a:solidFill>
            <a:prstDash val="solid"/>
          </a:ln>
        </p:spPr>
      </p:sp>
      <p:sp>
        <p:nvSpPr>
          <p:cNvPr id="26" name="Text 24"/>
          <p:cNvSpPr/>
          <p:nvPr/>
        </p:nvSpPr>
        <p:spPr>
          <a:xfrm>
            <a:off x="868680" y="5230368"/>
            <a:ext cx="2834640" cy="292608"/>
          </a:xfrm>
          <a:prstGeom prst="rect">
            <a:avLst/>
          </a:prstGeom>
          <a:noFill/>
          <a:ln/>
        </p:spPr>
        <p:txBody>
          <a:bodyPr wrap="square" lIns="0" tIns="0" rIns="0" bIns="0" rtlCol="0" anchor="ctr"/>
          <a:lstStyle/>
          <a:p>
            <a:pPr marL="0" indent="0">
              <a:buNone/>
            </a:pPr>
            <a:r>
              <a:rPr lang="en-US" sz="1500" b="1" dirty="0">
                <a:solidFill>
                  <a:srgbClr val="0E7C7B"/>
                </a:solidFill>
                <a:latin typeface="Cambria" pitchFamily="34" charset="0"/>
                <a:ea typeface="Cambria" pitchFamily="34" charset="-122"/>
                <a:cs typeface="Cambria" pitchFamily="34" charset="-120"/>
              </a:rPr>
              <a:t>Commercial consequence:</a:t>
            </a:r>
            <a:endParaRPr lang="en-US" sz="1500" dirty="0"/>
          </a:p>
        </p:txBody>
      </p:sp>
      <p:sp>
        <p:nvSpPr>
          <p:cNvPr id="27" name="Text 25"/>
          <p:cNvSpPr/>
          <p:nvPr/>
        </p:nvSpPr>
        <p:spPr>
          <a:xfrm>
            <a:off x="3657600" y="5230368"/>
            <a:ext cx="7680960" cy="640080"/>
          </a:xfrm>
          <a:prstGeom prst="rect">
            <a:avLst/>
          </a:prstGeom>
          <a:noFill/>
          <a:ln/>
        </p:spPr>
        <p:txBody>
          <a:bodyPr wrap="square" lIns="0" tIns="0" rIns="0" bIns="0" rtlCol="0" anchor="t"/>
          <a:lstStyle/>
          <a:p>
            <a:pPr marL="0" indent="0">
              <a:lnSpc>
                <a:spcPts val="1700"/>
              </a:lnSpc>
              <a:buNone/>
            </a:pPr>
            <a:r>
              <a:rPr lang="en-US" sz="1300" dirty="0">
                <a:solidFill>
                  <a:srgbClr val="5B6180"/>
                </a:solidFill>
                <a:latin typeface="Calibri" pitchFamily="34" charset="0"/>
                <a:ea typeface="Calibri" pitchFamily="34" charset="-122"/>
                <a:cs typeface="Calibri" pitchFamily="34" charset="-120"/>
              </a:rPr>
              <a:t>one question — what is your dominant failure reason code — determines which tier a customer needs before any commercial conversation begins.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685800"/>
          </a:xfrm>
          <a:prstGeom prst="rect">
            <a:avLst/>
          </a:prstGeom>
          <a:noFill/>
          <a:ln/>
        </p:spPr>
        <p:txBody>
          <a:bodyPr wrap="square" lIns="0" tIns="0" rIns="0" bIns="0" rtlCol="0" anchor="ctr"/>
          <a:lstStyle/>
          <a:p>
            <a:pPr marL="0" indent="0">
              <a:buNone/>
            </a:pPr>
            <a:r>
              <a:rPr lang="en-US" sz="3200" b="1" dirty="0">
                <a:solidFill>
                  <a:srgbClr val="16193B"/>
                </a:solidFill>
                <a:latin typeface="Cambria" pitchFamily="34" charset="0"/>
                <a:ea typeface="Cambria" pitchFamily="34" charset="-122"/>
                <a:cs typeface="Cambria" pitchFamily="34" charset="-120"/>
              </a:rPr>
              <a:t>Finding 3 — the obvious idea does not work</a:t>
            </a:r>
            <a:endParaRPr lang="en-US" sz="3200" dirty="0"/>
          </a:p>
        </p:txBody>
      </p:sp>
      <p:sp>
        <p:nvSpPr>
          <p:cNvPr id="3" name="Text 1"/>
          <p:cNvSpPr/>
          <p:nvPr/>
        </p:nvSpPr>
        <p:spPr>
          <a:xfrm>
            <a:off x="548640" y="1115568"/>
            <a:ext cx="11064240" cy="365760"/>
          </a:xfrm>
          <a:prstGeom prst="rect">
            <a:avLst/>
          </a:prstGeom>
          <a:noFill/>
          <a:ln/>
        </p:spPr>
        <p:txBody>
          <a:bodyPr wrap="square" lIns="0" tIns="0" rIns="0" bIns="0" rtlCol="0" anchor="ctr"/>
          <a:lstStyle/>
          <a:p>
            <a:pPr marL="0" indent="0">
              <a:buNone/>
            </a:pPr>
            <a:r>
              <a:rPr lang="en-US" sz="1400" dirty="0">
                <a:solidFill>
                  <a:srgbClr val="5B6180"/>
                </a:solidFill>
                <a:latin typeface="Calibri" pitchFamily="34" charset="0"/>
                <a:ea typeface="Calibri" pitchFamily="34" charset="-122"/>
                <a:cs typeface="Calibri" pitchFamily="34" charset="-120"/>
              </a:rPr>
              <a:t>Salary-timed retries cannot be built from a merchant's own data. This is a structural limit, not a tuning problem.</a:t>
            </a:r>
            <a:endParaRPr lang="en-US" sz="1400" dirty="0"/>
          </a:p>
        </p:txBody>
      </p:sp>
      <p:sp>
        <p:nvSpPr>
          <p:cNvPr id="4" name="Shape 2"/>
          <p:cNvSpPr/>
          <p:nvPr/>
        </p:nvSpPr>
        <p:spPr>
          <a:xfrm>
            <a:off x="548640" y="1783080"/>
            <a:ext cx="5394960" cy="2286000"/>
          </a:xfrm>
          <a:prstGeom prst="roundRect">
            <a:avLst>
              <a:gd name="adj" fmla="val 2400"/>
            </a:avLst>
          </a:prstGeom>
          <a:solidFill>
            <a:srgbClr val="FBF3E8"/>
          </a:solidFill>
          <a:ln w="12700">
            <a:solidFill>
              <a:srgbClr val="DDE3F0"/>
            </a:solidFill>
            <a:prstDash val="solid"/>
          </a:ln>
        </p:spPr>
      </p:sp>
      <p:sp>
        <p:nvSpPr>
          <p:cNvPr id="5" name="Text 3"/>
          <p:cNvSpPr/>
          <p:nvPr/>
        </p:nvSpPr>
        <p:spPr>
          <a:xfrm>
            <a:off x="868680" y="1993392"/>
            <a:ext cx="4754880" cy="320040"/>
          </a:xfrm>
          <a:prstGeom prst="rect">
            <a:avLst/>
          </a:prstGeom>
          <a:noFill/>
          <a:ln/>
        </p:spPr>
        <p:txBody>
          <a:bodyPr wrap="square" lIns="0" tIns="0" rIns="0" bIns="0" rtlCol="0" anchor="ctr"/>
          <a:lstStyle/>
          <a:p>
            <a:pPr marL="0" indent="0">
              <a:buNone/>
            </a:pPr>
            <a:r>
              <a:rPr lang="en-US" sz="1800" b="1" dirty="0">
                <a:solidFill>
                  <a:srgbClr val="C2740A"/>
                </a:solidFill>
                <a:latin typeface="Cambria" pitchFamily="34" charset="0"/>
                <a:ea typeface="Cambria" pitchFamily="34" charset="-122"/>
                <a:cs typeface="Cambria" pitchFamily="34" charset="-120"/>
              </a:rPr>
              <a:t>The identifiability failure</a:t>
            </a:r>
            <a:endParaRPr lang="en-US" sz="1800" dirty="0"/>
          </a:p>
        </p:txBody>
      </p:sp>
      <p:sp>
        <p:nvSpPr>
          <p:cNvPr id="6" name="Text 4"/>
          <p:cNvSpPr/>
          <p:nvPr/>
        </p:nvSpPr>
        <p:spPr>
          <a:xfrm>
            <a:off x="868680" y="2395728"/>
            <a:ext cx="4754880" cy="1463040"/>
          </a:xfrm>
          <a:prstGeom prst="rect">
            <a:avLst/>
          </a:prstGeom>
          <a:noFill/>
          <a:ln/>
        </p:spPr>
        <p:txBody>
          <a:bodyPr wrap="square" lIns="0" tIns="0" rIns="0" bIns="0" rtlCol="0" anchor="t"/>
          <a:lstStyle/>
          <a:p>
            <a:pPr marL="0" indent="0">
              <a:lnSpc>
                <a:spcPts val="1700"/>
              </a:lnSpc>
              <a:buNone/>
            </a:pPr>
            <a:r>
              <a:rPr lang="en-US" sz="1300" dirty="0">
                <a:solidFill>
                  <a:srgbClr val="5B6180"/>
                </a:solidFill>
                <a:latin typeface="Calibri" pitchFamily="34" charset="0"/>
                <a:ea typeface="Calibri" pitchFamily="34" charset="-122"/>
                <a:cs typeface="Calibri" pitchFamily="34" charset="-120"/>
              </a:rPr>
              <a:t>Every mandate bills on one calendar day, so its observable history is that same day repeated. Nothing in it separates 'payday is the 25th' from 'payday is the 5th'. The estimator collapses onto the billing day for 94% of mandates.</a:t>
            </a:r>
            <a:endParaRPr lang="en-US" sz="1300" dirty="0"/>
          </a:p>
        </p:txBody>
      </p:sp>
      <p:sp>
        <p:nvSpPr>
          <p:cNvPr id="7" name="Shape 5"/>
          <p:cNvSpPr/>
          <p:nvPr/>
        </p:nvSpPr>
        <p:spPr>
          <a:xfrm>
            <a:off x="6217920" y="1783080"/>
            <a:ext cx="5394960" cy="2286000"/>
          </a:xfrm>
          <a:prstGeom prst="roundRect">
            <a:avLst>
              <a:gd name="adj" fmla="val 2400"/>
            </a:avLst>
          </a:prstGeom>
          <a:solidFill>
            <a:srgbClr val="F6F8FC"/>
          </a:solidFill>
          <a:ln w="12700">
            <a:solidFill>
              <a:srgbClr val="DDE3F0"/>
            </a:solidFill>
            <a:prstDash val="solid"/>
          </a:ln>
        </p:spPr>
      </p:sp>
      <p:sp>
        <p:nvSpPr>
          <p:cNvPr id="8" name="Text 6"/>
          <p:cNvSpPr/>
          <p:nvPr/>
        </p:nvSpPr>
        <p:spPr>
          <a:xfrm>
            <a:off x="6537960" y="1993392"/>
            <a:ext cx="4754880" cy="320040"/>
          </a:xfrm>
          <a:prstGeom prst="rect">
            <a:avLst/>
          </a:prstGeom>
          <a:noFill/>
          <a:ln/>
        </p:spPr>
        <p:txBody>
          <a:bodyPr wrap="square" lIns="0" tIns="0" rIns="0" bIns="0" rtlCol="0" anchor="ctr"/>
          <a:lstStyle/>
          <a:p>
            <a:pPr marL="0" indent="0">
              <a:buNone/>
            </a:pPr>
            <a:r>
              <a:rPr lang="en-US" sz="1800" b="1" dirty="0">
                <a:solidFill>
                  <a:srgbClr val="16193B"/>
                </a:solidFill>
                <a:latin typeface="Cambria" pitchFamily="34" charset="0"/>
                <a:ea typeface="Cambria" pitchFamily="34" charset="-122"/>
                <a:cs typeface="Cambria" pitchFamily="34" charset="-120"/>
              </a:rPr>
              <a:t>Measured against a coin flip</a:t>
            </a:r>
            <a:endParaRPr lang="en-US" sz="1800" dirty="0"/>
          </a:p>
        </p:txBody>
      </p:sp>
      <p:sp>
        <p:nvSpPr>
          <p:cNvPr id="9" name="Text 7"/>
          <p:cNvSpPr/>
          <p:nvPr/>
        </p:nvSpPr>
        <p:spPr>
          <a:xfrm>
            <a:off x="6537960" y="2395728"/>
            <a:ext cx="2103120" cy="548640"/>
          </a:xfrm>
          <a:prstGeom prst="rect">
            <a:avLst/>
          </a:prstGeom>
          <a:noFill/>
          <a:ln/>
        </p:spPr>
        <p:txBody>
          <a:bodyPr wrap="square" lIns="0" tIns="0" rIns="0" bIns="0" rtlCol="0" anchor="ctr"/>
          <a:lstStyle/>
          <a:p>
            <a:pPr marL="0" indent="0">
              <a:buNone/>
            </a:pPr>
            <a:r>
              <a:rPr lang="en-US" sz="3400" b="1" dirty="0">
                <a:solidFill>
                  <a:srgbClr val="C2740A"/>
                </a:solidFill>
                <a:latin typeface="Cambria" pitchFamily="34" charset="0"/>
                <a:ea typeface="Cambria" pitchFamily="34" charset="-122"/>
                <a:cs typeface="Cambria" pitchFamily="34" charset="-120"/>
              </a:rPr>
              <a:t>14.2%</a:t>
            </a:r>
            <a:endParaRPr lang="en-US" sz="3400" dirty="0"/>
          </a:p>
        </p:txBody>
      </p:sp>
      <p:sp>
        <p:nvSpPr>
          <p:cNvPr id="10" name="Text 8"/>
          <p:cNvSpPr/>
          <p:nvPr/>
        </p:nvSpPr>
        <p:spPr>
          <a:xfrm>
            <a:off x="6537960" y="2971800"/>
            <a:ext cx="2103120" cy="548640"/>
          </a:xfrm>
          <a:prstGeom prst="rect">
            <a:avLst/>
          </a:prstGeom>
          <a:noFill/>
          <a:ln/>
        </p:spPr>
        <p:txBody>
          <a:bodyPr wrap="square" lIns="0" tIns="0" rIns="0" bIns="0" rtlCol="0" anchor="ctr"/>
          <a:lstStyle/>
          <a:p>
            <a:pPr marL="0" indent="0">
              <a:lnSpc>
                <a:spcPts val="1400"/>
              </a:lnSpc>
              <a:buNone/>
            </a:pPr>
            <a:r>
              <a:rPr lang="en-US" sz="1150" dirty="0">
                <a:solidFill>
                  <a:srgbClr val="5B6180"/>
                </a:solidFill>
                <a:latin typeface="Calibri" pitchFamily="34" charset="0"/>
                <a:ea typeface="Calibri" pitchFamily="34" charset="-122"/>
                <a:cs typeface="Calibri" pitchFamily="34" charset="-120"/>
              </a:rPr>
              <a:t>inferred within</a:t>
            </a:r>
            <a:endParaRPr lang="en-US" sz="1150" dirty="0"/>
          </a:p>
          <a:p>
            <a:pPr marL="0" indent="0">
              <a:lnSpc>
                <a:spcPts val="1400"/>
              </a:lnSpc>
              <a:buNone/>
            </a:pPr>
            <a:r>
              <a:rPr lang="en-US" sz="1150" dirty="0">
                <a:solidFill>
                  <a:srgbClr val="5B6180"/>
                </a:solidFill>
                <a:latin typeface="Calibri" pitchFamily="34" charset="0"/>
                <a:ea typeface="Calibri" pitchFamily="34" charset="-122"/>
                <a:cs typeface="Calibri" pitchFamily="34" charset="-120"/>
              </a:rPr>
              <a:t>2 days of true payroll</a:t>
            </a:r>
            <a:endParaRPr lang="en-US" sz="1150" dirty="0"/>
          </a:p>
        </p:txBody>
      </p:sp>
      <p:sp>
        <p:nvSpPr>
          <p:cNvPr id="11" name="Text 9"/>
          <p:cNvSpPr/>
          <p:nvPr/>
        </p:nvSpPr>
        <p:spPr>
          <a:xfrm>
            <a:off x="9052560" y="2395728"/>
            <a:ext cx="2103120" cy="548640"/>
          </a:xfrm>
          <a:prstGeom prst="rect">
            <a:avLst/>
          </a:prstGeom>
          <a:noFill/>
          <a:ln/>
        </p:spPr>
        <p:txBody>
          <a:bodyPr wrap="square" lIns="0" tIns="0" rIns="0" bIns="0" rtlCol="0" anchor="ctr"/>
          <a:lstStyle/>
          <a:p>
            <a:pPr marL="0" indent="0">
              <a:buNone/>
            </a:pPr>
            <a:r>
              <a:rPr lang="en-US" sz="3400" b="1" dirty="0">
                <a:solidFill>
                  <a:srgbClr val="5B6180"/>
                </a:solidFill>
                <a:latin typeface="Cambria" pitchFamily="34" charset="0"/>
                <a:ea typeface="Cambria" pitchFamily="34" charset="-122"/>
                <a:cs typeface="Cambria" pitchFamily="34" charset="-120"/>
              </a:rPr>
              <a:t>17.9%</a:t>
            </a:r>
            <a:endParaRPr lang="en-US" sz="3400" dirty="0"/>
          </a:p>
        </p:txBody>
      </p:sp>
      <p:sp>
        <p:nvSpPr>
          <p:cNvPr id="12" name="Text 10"/>
          <p:cNvSpPr/>
          <p:nvPr/>
        </p:nvSpPr>
        <p:spPr>
          <a:xfrm>
            <a:off x="9052560" y="2971800"/>
            <a:ext cx="2103120" cy="548640"/>
          </a:xfrm>
          <a:prstGeom prst="rect">
            <a:avLst/>
          </a:prstGeom>
          <a:noFill/>
          <a:ln/>
        </p:spPr>
        <p:txBody>
          <a:bodyPr wrap="square" lIns="0" tIns="0" rIns="0" bIns="0" rtlCol="0" anchor="ctr"/>
          <a:lstStyle/>
          <a:p>
            <a:pPr marL="0" indent="0">
              <a:lnSpc>
                <a:spcPts val="1400"/>
              </a:lnSpc>
              <a:buNone/>
            </a:pPr>
            <a:r>
              <a:rPr lang="en-US" sz="1150" dirty="0">
                <a:solidFill>
                  <a:srgbClr val="5B6180"/>
                </a:solidFill>
                <a:latin typeface="Calibri" pitchFamily="34" charset="0"/>
                <a:ea typeface="Calibri" pitchFamily="34" charset="-122"/>
                <a:cs typeface="Calibri" pitchFamily="34" charset="-120"/>
              </a:rPr>
              <a:t>a uniform random</a:t>
            </a:r>
            <a:endParaRPr lang="en-US" sz="1150" dirty="0"/>
          </a:p>
          <a:p>
            <a:pPr marL="0" indent="0">
              <a:lnSpc>
                <a:spcPts val="1400"/>
              </a:lnSpc>
              <a:buNone/>
            </a:pPr>
            <a:r>
              <a:rPr lang="en-US" sz="1150" dirty="0">
                <a:solidFill>
                  <a:srgbClr val="5B6180"/>
                </a:solidFill>
                <a:latin typeface="Calibri" pitchFamily="34" charset="0"/>
                <a:ea typeface="Calibri" pitchFamily="34" charset="-122"/>
                <a:cs typeface="Calibri" pitchFamily="34" charset="-120"/>
              </a:rPr>
              <a:t>guess over 28 days</a:t>
            </a:r>
            <a:endParaRPr lang="en-US" sz="1150" dirty="0"/>
          </a:p>
        </p:txBody>
      </p:sp>
      <p:sp>
        <p:nvSpPr>
          <p:cNvPr id="13" name="Text 11"/>
          <p:cNvSpPr/>
          <p:nvPr/>
        </p:nvSpPr>
        <p:spPr>
          <a:xfrm>
            <a:off x="548640" y="4343400"/>
            <a:ext cx="11064240" cy="347472"/>
          </a:xfrm>
          <a:prstGeom prst="rect">
            <a:avLst/>
          </a:prstGeom>
          <a:noFill/>
          <a:ln/>
        </p:spPr>
        <p:txBody>
          <a:bodyPr wrap="square" lIns="0" tIns="0" rIns="0" bIns="0" rtlCol="0" anchor="ctr"/>
          <a:lstStyle/>
          <a:p>
            <a:pPr marL="0" indent="0">
              <a:buNone/>
            </a:pPr>
            <a:r>
              <a:rPr lang="en-US" sz="2000" b="1" dirty="0">
                <a:solidFill>
                  <a:srgbClr val="16193B"/>
                </a:solidFill>
                <a:latin typeface="Cambria" pitchFamily="34" charset="0"/>
                <a:ea typeface="Cambria" pitchFamily="34" charset="-122"/>
                <a:cs typeface="Cambria" pitchFamily="34" charset="-120"/>
              </a:rPr>
              <a:t>Why this is worth more than a positive result</a:t>
            </a:r>
            <a:endParaRPr lang="en-US" sz="2000" dirty="0"/>
          </a:p>
        </p:txBody>
      </p:sp>
      <p:sp>
        <p:nvSpPr>
          <p:cNvPr id="14" name="Text 12"/>
          <p:cNvSpPr/>
          <p:nvPr/>
        </p:nvSpPr>
        <p:spPr>
          <a:xfrm>
            <a:off x="548640" y="4754880"/>
            <a:ext cx="11064240" cy="1371600"/>
          </a:xfrm>
          <a:prstGeom prst="rect">
            <a:avLst/>
          </a:prstGeom>
          <a:noFill/>
          <a:ln/>
        </p:spPr>
        <p:txBody>
          <a:bodyPr wrap="square" lIns="0" tIns="0" rIns="0" bIns="0" rtlCol="0" anchor="t"/>
          <a:lstStyle/>
          <a:p>
            <a:pPr marL="342900" indent="-342900">
              <a:lnSpc>
                <a:spcPts val="1700"/>
              </a:lnSpc>
              <a:spcAft>
                <a:spcPts val="900"/>
              </a:spcAft>
              <a:buSzPct val="100000"/>
              <a:buChar char="•"/>
            </a:pPr>
            <a:r>
              <a:rPr lang="en-US" sz="1300" dirty="0">
                <a:solidFill>
                  <a:srgbClr val="5B6180"/>
                </a:solidFill>
                <a:latin typeface="Calibri" pitchFamily="34" charset="0"/>
                <a:ea typeface="Calibri" pitchFamily="34" charset="-122"/>
                <a:cs typeface="Calibri" pitchFamily="34" charset="-120"/>
              </a:rPr>
              <a:t>Insufficient funds is the largest failure segment at 39.9% of episodes — and no strategy beats the baseline in it after correction.</a:t>
            </a:r>
            <a:endParaRPr lang="en-US" sz="1300" dirty="0"/>
          </a:p>
          <a:p>
            <a:pPr marL="342900" indent="-342900">
              <a:lnSpc>
                <a:spcPts val="1700"/>
              </a:lnSpc>
              <a:spcAft>
                <a:spcPts val="900"/>
              </a:spcAft>
              <a:buSzPct val="100000"/>
              <a:buChar char="•"/>
            </a:pPr>
            <a:r>
              <a:rPr lang="en-US" sz="1300" dirty="0">
                <a:solidFill>
                  <a:srgbClr val="5B6180"/>
                </a:solidFill>
                <a:latin typeface="Calibri" pitchFamily="34" charset="0"/>
                <a:ea typeface="Calibri" pitchFamily="34" charset="-122"/>
                <a:cs typeface="Calibri" pitchFamily="34" charset="-120"/>
              </a:rPr>
              <a:t>The largest pocket of opportunity is therefore blocked on external data, not on better algorithms.</a:t>
            </a:r>
            <a:endParaRPr lang="en-US" sz="1300" dirty="0"/>
          </a:p>
          <a:p>
            <a:pPr marL="342900" indent="-342900">
              <a:lnSpc>
                <a:spcPts val="1700"/>
              </a:lnSpc>
              <a:buSzPct val="100000"/>
              <a:buChar char="•"/>
            </a:pPr>
            <a:r>
              <a:rPr lang="en-US" sz="1300" dirty="0">
                <a:solidFill>
                  <a:srgbClr val="5B6180"/>
                </a:solidFill>
                <a:latin typeface="Calibri" pitchFamily="34" charset="0"/>
                <a:ea typeface="Calibri" pitchFamily="34" charset="-122"/>
                <a:cs typeface="Calibri" pitchFamily="34" charset="-120"/>
              </a:rPr>
              <a:t>Unlocking it requires account-aggregator consent, a signup declaration, or an issuer signal — a different product with a different regulatory surface.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48640" y="502920"/>
            <a:ext cx="11064240" cy="54864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The headline, visible at row level</a:t>
            </a:r>
            <a:endParaRPr lang="en-US" sz="3200" dirty="0"/>
          </a:p>
        </p:txBody>
      </p:sp>
      <p:sp>
        <p:nvSpPr>
          <p:cNvPr id="3" name="Text 1"/>
          <p:cNvSpPr/>
          <p:nvPr/>
        </p:nvSpPr>
        <p:spPr>
          <a:xfrm>
            <a:off x="548640" y="1143000"/>
            <a:ext cx="11064240" cy="320040"/>
          </a:xfrm>
          <a:prstGeom prst="rect">
            <a:avLst/>
          </a:prstGeom>
          <a:noFill/>
          <a:ln/>
        </p:spPr>
        <p:txBody>
          <a:bodyPr wrap="square" lIns="0" tIns="0" rIns="0" bIns="0" rtlCol="0" anchor="ctr"/>
          <a:lstStyle/>
          <a:p>
            <a:pPr marL="0" indent="0">
              <a:buNone/>
            </a:pPr>
            <a:r>
              <a:rPr lang="en-US" sz="1400" dirty="0">
                <a:solidFill>
                  <a:srgbClr val="CADCFC"/>
                </a:solidFill>
                <a:latin typeface="Calibri" pitchFamily="34" charset="0"/>
                <a:ea typeface="Calibri" pitchFamily="34" charset="-122"/>
                <a:cs typeface="Calibri" pitchFamily="34" charset="-120"/>
              </a:rPr>
              <a:t>Same mandate. Same cycle. Same failure. One re-presents; one abandons.</a:t>
            </a:r>
            <a:endParaRPr lang="en-US" sz="1400" dirty="0"/>
          </a:p>
        </p:txBody>
      </p:sp>
      <p:sp>
        <p:nvSpPr>
          <p:cNvPr id="4" name="Shape 2"/>
          <p:cNvSpPr/>
          <p:nvPr/>
        </p:nvSpPr>
        <p:spPr>
          <a:xfrm>
            <a:off x="548640" y="1828800"/>
            <a:ext cx="11064240" cy="1691640"/>
          </a:xfrm>
          <a:prstGeom prst="roundRect">
            <a:avLst>
              <a:gd name="adj" fmla="val 2703"/>
            </a:avLst>
          </a:prstGeom>
          <a:solidFill>
            <a:srgbClr val="12163F"/>
          </a:solidFill>
          <a:ln w="12700">
            <a:solidFill>
              <a:srgbClr val="3D4788"/>
            </a:solidFill>
            <a:prstDash val="solid"/>
          </a:ln>
        </p:spPr>
      </p:sp>
      <p:sp>
        <p:nvSpPr>
          <p:cNvPr id="5" name="Text 3"/>
          <p:cNvSpPr/>
          <p:nvPr/>
        </p:nvSpPr>
        <p:spPr>
          <a:xfrm>
            <a:off x="868680" y="2148840"/>
            <a:ext cx="10424160" cy="365760"/>
          </a:xfrm>
          <a:prstGeom prst="rect">
            <a:avLst/>
          </a:prstGeom>
          <a:noFill/>
          <a:ln/>
        </p:spPr>
        <p:txBody>
          <a:bodyPr wrap="square" lIns="0" tIns="0" rIns="0" bIns="0" rtlCol="0" anchor="ctr"/>
          <a:lstStyle/>
          <a:p>
            <a:pPr marL="0" indent="0">
              <a:buNone/>
            </a:pPr>
            <a:r>
              <a:rPr lang="en-US" sz="1350" dirty="0">
                <a:solidFill>
                  <a:srgbClr val="8FE3B4"/>
                </a:solidFill>
                <a:latin typeface="Courier New" pitchFamily="34" charset="0"/>
                <a:ea typeface="Courier New" pitchFamily="34" charset="-122"/>
                <a:cs typeface="Courier New" pitchFamily="34" charset="-120"/>
              </a:rPr>
              <a:t>FixedSchedule   att 2   2026-11-09   rescheduled  11-08 → 11-09   SUCCESS   ₹499</a:t>
            </a:r>
            <a:endParaRPr lang="en-US" sz="1350" dirty="0"/>
          </a:p>
        </p:txBody>
      </p:sp>
      <p:sp>
        <p:nvSpPr>
          <p:cNvPr id="6" name="Text 4"/>
          <p:cNvSpPr/>
          <p:nvPr/>
        </p:nvSpPr>
        <p:spPr>
          <a:xfrm>
            <a:off x="868680" y="2697480"/>
            <a:ext cx="10424160" cy="365760"/>
          </a:xfrm>
          <a:prstGeom prst="rect">
            <a:avLst/>
          </a:prstGeom>
          <a:noFill/>
          <a:ln/>
        </p:spPr>
        <p:txBody>
          <a:bodyPr wrap="square" lIns="0" tIns="0" rIns="0" bIns="0" rtlCol="0" anchor="ctr"/>
          <a:lstStyle/>
          <a:p>
            <a:pPr marL="0" indent="0">
              <a:buNone/>
            </a:pPr>
            <a:r>
              <a:rPr lang="en-US" sz="1350" dirty="0">
                <a:solidFill>
                  <a:srgbClr val="F0A0A0"/>
                </a:solidFill>
                <a:latin typeface="Courier New" pitchFamily="34" charset="0"/>
                <a:ea typeface="Courier New" pitchFamily="34" charset="-122"/>
                <a:cs typeface="Courier New" pitchFamily="34" charset="-120"/>
              </a:rPr>
              <a:t>NoReschedule    att —   2026-11-08   blocked      presentation_window       ₹0</a:t>
            </a:r>
            <a:endParaRPr lang="en-US" sz="1350" dirty="0"/>
          </a:p>
        </p:txBody>
      </p:sp>
      <p:sp>
        <p:nvSpPr>
          <p:cNvPr id="7" name="Text 5"/>
          <p:cNvSpPr/>
          <p:nvPr/>
        </p:nvSpPr>
        <p:spPr>
          <a:xfrm>
            <a:off x="868680" y="3127248"/>
            <a:ext cx="10424160" cy="274320"/>
          </a:xfrm>
          <a:prstGeom prst="rect">
            <a:avLst/>
          </a:prstGeom>
          <a:noFill/>
          <a:ln/>
        </p:spPr>
        <p:txBody>
          <a:bodyPr wrap="square" lIns="0" tIns="0" rIns="0" bIns="0" rtlCol="0" anchor="ctr"/>
          <a:lstStyle/>
          <a:p>
            <a:pPr marL="0" indent="0">
              <a:buNone/>
            </a:pPr>
            <a:r>
              <a:rPr lang="en-US" sz="1150" i="1" dirty="0">
                <a:solidFill>
                  <a:srgbClr val="8A90AB"/>
                </a:solidFill>
                <a:latin typeface="Calibri" pitchFamily="34" charset="0"/>
                <a:ea typeface="Calibri" pitchFamily="34" charset="-122"/>
                <a:cs typeface="Calibri" pitchFamily="34" charset="-120"/>
              </a:rPr>
              <a:t>Saturday BANK_UNAVAILABLE · T+1 falls on Sunday · eNACH does not clear at weekends</a:t>
            </a:r>
            <a:endParaRPr lang="en-US" sz="1150" dirty="0"/>
          </a:p>
        </p:txBody>
      </p:sp>
      <p:sp>
        <p:nvSpPr>
          <p:cNvPr id="8" name="Text 6"/>
          <p:cNvSpPr/>
          <p:nvPr/>
        </p:nvSpPr>
        <p:spPr>
          <a:xfrm>
            <a:off x="548640" y="3886200"/>
            <a:ext cx="11064240" cy="731520"/>
          </a:xfrm>
          <a:prstGeom prst="rect">
            <a:avLst/>
          </a:prstGeom>
          <a:noFill/>
          <a:ln/>
        </p:spPr>
        <p:txBody>
          <a:bodyPr wrap="square" lIns="0" tIns="0" rIns="0" bIns="0" rtlCol="0" anchor="ctr"/>
          <a:lstStyle/>
          <a:p>
            <a:pPr marL="0" indent="0">
              <a:lnSpc>
                <a:spcPts val="2600"/>
              </a:lnSpc>
              <a:buNone/>
            </a:pPr>
            <a:r>
              <a:rPr lang="en-US" sz="1900" b="1" dirty="0">
                <a:solidFill>
                  <a:srgbClr val="CADCFC"/>
                </a:solidFill>
                <a:latin typeface="Cambria" pitchFamily="34" charset="0"/>
                <a:ea typeface="Cambria" pitchFamily="34" charset="-122"/>
                <a:cs typeface="Cambria" pitchFamily="34" charset="-120"/>
              </a:rPr>
              <a:t>Nothing in those two rows involves a reason code, an inference, or a model. Quoting this gap as intelligence is refutable from the export itself.</a:t>
            </a:r>
            <a:endParaRPr lang="en-US" sz="1900" dirty="0"/>
          </a:p>
        </p:txBody>
      </p:sp>
      <p:sp>
        <p:nvSpPr>
          <p:cNvPr id="9" name="Text 7"/>
          <p:cNvSpPr/>
          <p:nvPr/>
        </p:nvSpPr>
        <p:spPr>
          <a:xfrm>
            <a:off x="548640" y="4937760"/>
            <a:ext cx="3474720" cy="292608"/>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Auditable</a:t>
            </a:r>
            <a:endParaRPr lang="en-US" sz="1600" dirty="0"/>
          </a:p>
        </p:txBody>
      </p:sp>
      <p:sp>
        <p:nvSpPr>
          <p:cNvPr id="10" name="Text 8"/>
          <p:cNvSpPr/>
          <p:nvPr/>
        </p:nvSpPr>
        <p:spPr>
          <a:xfrm>
            <a:off x="548640" y="5285232"/>
            <a:ext cx="3474720" cy="777240"/>
          </a:xfrm>
          <a:prstGeom prst="rect">
            <a:avLst/>
          </a:prstGeom>
          <a:noFill/>
          <a:ln/>
        </p:spPr>
        <p:txBody>
          <a:bodyPr wrap="square" lIns="0" tIns="0" rIns="0" bIns="0" rtlCol="0" anchor="t"/>
          <a:lstStyle/>
          <a:p>
            <a:pPr marL="0" indent="0">
              <a:lnSpc>
                <a:spcPts val="1500"/>
              </a:lnSpc>
              <a:buNone/>
            </a:pPr>
            <a:r>
              <a:rPr lang="en-US" sz="1200" dirty="0">
                <a:solidFill>
                  <a:srgbClr val="C3CAE8"/>
                </a:solidFill>
                <a:latin typeface="Calibri" pitchFamily="34" charset="0"/>
                <a:ea typeface="Calibri" pitchFamily="34" charset="-122"/>
                <a:cs typeface="Calibri" pitchFamily="34" charset="-120"/>
              </a:rPr>
              <a:t>Every aggregate reconciles to the per-attempt rows that produced it</a:t>
            </a:r>
            <a:endParaRPr lang="en-US" sz="1200" dirty="0"/>
          </a:p>
        </p:txBody>
      </p:sp>
      <p:sp>
        <p:nvSpPr>
          <p:cNvPr id="11" name="Text 9"/>
          <p:cNvSpPr/>
          <p:nvPr/>
        </p:nvSpPr>
        <p:spPr>
          <a:xfrm>
            <a:off x="4279392" y="4937760"/>
            <a:ext cx="3474720" cy="292608"/>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Attributable</a:t>
            </a:r>
            <a:endParaRPr lang="en-US" sz="1600" dirty="0"/>
          </a:p>
        </p:txBody>
      </p:sp>
      <p:sp>
        <p:nvSpPr>
          <p:cNvPr id="12" name="Text 10"/>
          <p:cNvSpPr/>
          <p:nvPr/>
        </p:nvSpPr>
        <p:spPr>
          <a:xfrm>
            <a:off x="4279392" y="5285232"/>
            <a:ext cx="3474720" cy="777240"/>
          </a:xfrm>
          <a:prstGeom prst="rect">
            <a:avLst/>
          </a:prstGeom>
          <a:noFill/>
          <a:ln/>
        </p:spPr>
        <p:txBody>
          <a:bodyPr wrap="square" lIns="0" tIns="0" rIns="0" bIns="0" rtlCol="0" anchor="t"/>
          <a:lstStyle/>
          <a:p>
            <a:pPr marL="0" indent="0">
              <a:lnSpc>
                <a:spcPts val="1500"/>
              </a:lnSpc>
              <a:buNone/>
            </a:pPr>
            <a:r>
              <a:rPr lang="en-US" sz="1200" dirty="0">
                <a:solidFill>
                  <a:srgbClr val="C3CAE8"/>
                </a:solidFill>
                <a:latin typeface="Calibri" pitchFamily="34" charset="0"/>
                <a:ea typeface="Calibri" pitchFamily="34" charset="-122"/>
                <a:cs typeface="Calibri" pitchFamily="34" charset="-120"/>
              </a:rPr>
              <a:t>Every retry carries the rule that proposed it and the guard verdict that allowed it</a:t>
            </a:r>
            <a:endParaRPr lang="en-US" sz="1200" dirty="0"/>
          </a:p>
        </p:txBody>
      </p:sp>
      <p:sp>
        <p:nvSpPr>
          <p:cNvPr id="13" name="Text 11"/>
          <p:cNvSpPr/>
          <p:nvPr/>
        </p:nvSpPr>
        <p:spPr>
          <a:xfrm>
            <a:off x="8010144" y="4937760"/>
            <a:ext cx="3474720" cy="292608"/>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Reproducible</a:t>
            </a:r>
            <a:endParaRPr lang="en-US" sz="1600" dirty="0"/>
          </a:p>
        </p:txBody>
      </p:sp>
      <p:sp>
        <p:nvSpPr>
          <p:cNvPr id="14" name="Text 12"/>
          <p:cNvSpPr/>
          <p:nvPr/>
        </p:nvSpPr>
        <p:spPr>
          <a:xfrm>
            <a:off x="8010144" y="5285232"/>
            <a:ext cx="3474720" cy="777240"/>
          </a:xfrm>
          <a:prstGeom prst="rect">
            <a:avLst/>
          </a:prstGeom>
          <a:noFill/>
          <a:ln/>
        </p:spPr>
        <p:txBody>
          <a:bodyPr wrap="square" lIns="0" tIns="0" rIns="0" bIns="0" rtlCol="0" anchor="t"/>
          <a:lstStyle/>
          <a:p>
            <a:pPr marL="0" indent="0">
              <a:lnSpc>
                <a:spcPts val="1500"/>
              </a:lnSpc>
              <a:buNone/>
            </a:pPr>
            <a:r>
              <a:rPr lang="en-US" sz="1200" dirty="0">
                <a:solidFill>
                  <a:srgbClr val="C3CAE8"/>
                </a:solidFill>
                <a:latin typeface="Calibri" pitchFamily="34" charset="0"/>
                <a:ea typeface="Calibri" pitchFamily="34" charset="-122"/>
                <a:cs typeface="Calibri" pitchFamily="34" charset="-120"/>
              </a:rPr>
              <a:t>Seed and config fingerprint on every exported row</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685800"/>
          </a:xfrm>
          <a:prstGeom prst="rect">
            <a:avLst/>
          </a:prstGeom>
          <a:noFill/>
          <a:ln/>
        </p:spPr>
        <p:txBody>
          <a:bodyPr wrap="square" lIns="0" tIns="0" rIns="0" bIns="0" rtlCol="0" anchor="ctr"/>
          <a:lstStyle/>
          <a:p>
            <a:pPr marL="0" indent="0">
              <a:buNone/>
            </a:pPr>
            <a:r>
              <a:rPr lang="en-US" sz="3200" b="1" dirty="0">
                <a:solidFill>
                  <a:srgbClr val="16193B"/>
                </a:solidFill>
                <a:latin typeface="Cambria" pitchFamily="34" charset="0"/>
                <a:ea typeface="Cambria" pitchFamily="34" charset="-122"/>
                <a:cs typeface="Cambria" pitchFamily="34" charset="-120"/>
              </a:rPr>
              <a:t>How it deploys</a:t>
            </a:r>
            <a:endParaRPr lang="en-US" sz="3200" dirty="0"/>
          </a:p>
        </p:txBody>
      </p:sp>
      <p:sp>
        <p:nvSpPr>
          <p:cNvPr id="3" name="Text 1"/>
          <p:cNvSpPr/>
          <p:nvPr/>
        </p:nvSpPr>
        <p:spPr>
          <a:xfrm>
            <a:off x="548640" y="1115568"/>
            <a:ext cx="11064240" cy="365760"/>
          </a:xfrm>
          <a:prstGeom prst="rect">
            <a:avLst/>
          </a:prstGeom>
          <a:noFill/>
          <a:ln/>
        </p:spPr>
        <p:txBody>
          <a:bodyPr wrap="square" lIns="0" tIns="0" rIns="0" bIns="0" rtlCol="0" anchor="ctr"/>
          <a:lstStyle/>
          <a:p>
            <a:pPr marL="0" indent="0">
              <a:buNone/>
            </a:pPr>
            <a:r>
              <a:rPr lang="en-US" sz="1400" dirty="0">
                <a:solidFill>
                  <a:srgbClr val="5B6180"/>
                </a:solidFill>
                <a:latin typeface="Calibri" pitchFamily="34" charset="0"/>
                <a:ea typeface="Calibri" pitchFamily="34" charset="-122"/>
                <a:cs typeface="Calibri" pitchFamily="34" charset="-120"/>
              </a:rPr>
              <a:t>Two separable components. The scoring service is the product; the simulator is how its value is quantified and qualified.</a:t>
            </a:r>
            <a:endParaRPr lang="en-US" sz="1400" dirty="0"/>
          </a:p>
        </p:txBody>
      </p:sp>
      <p:sp>
        <p:nvSpPr>
          <p:cNvPr id="4" name="Shape 2"/>
          <p:cNvSpPr/>
          <p:nvPr/>
        </p:nvSpPr>
        <p:spPr>
          <a:xfrm>
            <a:off x="548640" y="1783080"/>
            <a:ext cx="5394960" cy="3200400"/>
          </a:xfrm>
          <a:prstGeom prst="roundRect">
            <a:avLst>
              <a:gd name="adj" fmla="val 1714"/>
            </a:avLst>
          </a:prstGeom>
          <a:solidFill>
            <a:srgbClr val="F1F4FB"/>
          </a:solidFill>
          <a:ln w="12700">
            <a:solidFill>
              <a:srgbClr val="DDE3F0"/>
            </a:solidFill>
            <a:prstDash val="solid"/>
          </a:ln>
        </p:spPr>
      </p:sp>
      <p:sp>
        <p:nvSpPr>
          <p:cNvPr id="5" name="Text 3"/>
          <p:cNvSpPr/>
          <p:nvPr/>
        </p:nvSpPr>
        <p:spPr>
          <a:xfrm>
            <a:off x="868680" y="1993392"/>
            <a:ext cx="4754880" cy="347472"/>
          </a:xfrm>
          <a:prstGeom prst="rect">
            <a:avLst/>
          </a:prstGeom>
          <a:noFill/>
          <a:ln/>
        </p:spPr>
        <p:txBody>
          <a:bodyPr wrap="square" lIns="0" tIns="0" rIns="0" bIns="0" rtlCol="0" anchor="ctr"/>
          <a:lstStyle/>
          <a:p>
            <a:pPr marL="0" indent="0">
              <a:buNone/>
            </a:pPr>
            <a:r>
              <a:rPr lang="en-US" sz="2000" b="1" dirty="0">
                <a:solidFill>
                  <a:srgbClr val="1E2761"/>
                </a:solidFill>
                <a:latin typeface="Cambria" pitchFamily="34" charset="0"/>
                <a:ea typeface="Cambria" pitchFamily="34" charset="-122"/>
                <a:cs typeface="Cambria" pitchFamily="34" charset="-120"/>
              </a:rPr>
              <a:t>Simulator</a:t>
            </a:r>
            <a:endParaRPr lang="en-US" sz="2000" dirty="0"/>
          </a:p>
        </p:txBody>
      </p:sp>
      <p:sp>
        <p:nvSpPr>
          <p:cNvPr id="6" name="Text 4"/>
          <p:cNvSpPr/>
          <p:nvPr/>
        </p:nvSpPr>
        <p:spPr>
          <a:xfrm>
            <a:off x="868680" y="2359152"/>
            <a:ext cx="4754880" cy="256032"/>
          </a:xfrm>
          <a:prstGeom prst="rect">
            <a:avLst/>
          </a:prstGeom>
          <a:noFill/>
          <a:ln/>
        </p:spPr>
        <p:txBody>
          <a:bodyPr wrap="square" lIns="0" tIns="0" rIns="0" bIns="0" rtlCol="0" anchor="ctr"/>
          <a:lstStyle/>
          <a:p>
            <a:pPr marL="0" indent="0">
              <a:buNone/>
            </a:pPr>
            <a:r>
              <a:rPr lang="en-US" sz="1150" i="1" dirty="0">
                <a:solidFill>
                  <a:srgbClr val="8A90AB"/>
                </a:solidFill>
                <a:latin typeface="Calibri" pitchFamily="34" charset="0"/>
                <a:ea typeface="Calibri" pitchFamily="34" charset="-122"/>
                <a:cs typeface="Calibri" pitchFamily="34" charset="-120"/>
              </a:rPr>
              <a:t>Offline · no customer data</a:t>
            </a:r>
            <a:endParaRPr lang="en-US" sz="1150" dirty="0"/>
          </a:p>
        </p:txBody>
      </p:sp>
      <p:sp>
        <p:nvSpPr>
          <p:cNvPr id="7" name="Text 5"/>
          <p:cNvSpPr/>
          <p:nvPr/>
        </p:nvSpPr>
        <p:spPr>
          <a:xfrm>
            <a:off x="868680" y="2743200"/>
            <a:ext cx="4754880" cy="2011680"/>
          </a:xfrm>
          <a:prstGeom prst="rect">
            <a:avLst/>
          </a:prstGeom>
          <a:noFill/>
          <a:ln/>
        </p:spPr>
        <p:txBody>
          <a:bodyPr wrap="square" lIns="0" tIns="0" rIns="0" bIns="0" rtlCol="0" anchor="t"/>
          <a:lstStyle/>
          <a:p>
            <a:pPr marL="342900" indent="-342900">
              <a:lnSpc>
                <a:spcPts val="1600"/>
              </a:lnSpc>
              <a:spcAft>
                <a:spcPts val="800"/>
              </a:spcAft>
              <a:buSzPct val="100000"/>
              <a:buChar char="•"/>
            </a:pPr>
            <a:r>
              <a:rPr lang="en-US" sz="1250" dirty="0">
                <a:solidFill>
                  <a:srgbClr val="5B6180"/>
                </a:solidFill>
                <a:latin typeface="Calibri" pitchFamily="34" charset="0"/>
                <a:ea typeface="Calibri" pitchFamily="34" charset="-122"/>
                <a:cs typeface="Calibri" pitchFamily="34" charset="-120"/>
              </a:rPr>
              <a:t>Six inputs: book size, ticket, rail mix, failure mix, fee</a:t>
            </a:r>
            <a:endParaRPr lang="en-US" sz="1250" dirty="0"/>
          </a:p>
          <a:p>
            <a:pPr marL="342900" indent="-342900">
              <a:lnSpc>
                <a:spcPts val="1600"/>
              </a:lnSpc>
              <a:spcAft>
                <a:spcPts val="800"/>
              </a:spcAft>
              <a:buSzPct val="100000"/>
              <a:buChar char="•"/>
            </a:pPr>
            <a:r>
              <a:rPr lang="en-US" sz="1250" dirty="0">
                <a:solidFill>
                  <a:srgbClr val="5B6180"/>
                </a:solidFill>
                <a:latin typeface="Calibri" pitchFamily="34" charset="0"/>
                <a:ea typeface="Calibri" pitchFamily="34" charset="-122"/>
                <a:cs typeface="Calibri" pitchFamily="34" charset="-120"/>
              </a:rPr>
              <a:t>Outputs the two lift figures with intervals</a:t>
            </a:r>
            <a:endParaRPr lang="en-US" sz="1250" dirty="0"/>
          </a:p>
          <a:p>
            <a:pPr marL="342900" indent="-342900">
              <a:lnSpc>
                <a:spcPts val="1600"/>
              </a:lnSpc>
              <a:spcAft>
                <a:spcPts val="800"/>
              </a:spcAft>
              <a:buSzPct val="100000"/>
              <a:buChar char="•"/>
            </a:pPr>
            <a:r>
              <a:rPr lang="en-US" sz="1250" dirty="0">
                <a:solidFill>
                  <a:srgbClr val="5B6180"/>
                </a:solidFill>
                <a:latin typeface="Calibri" pitchFamily="34" charset="0"/>
                <a:ea typeface="Calibri" pitchFamily="34" charset="-122"/>
                <a:cs typeface="Calibri" pitchFamily="34" charset="-120"/>
              </a:rPr>
              <a:t>Segment report with multiplicity correction</a:t>
            </a:r>
            <a:endParaRPr lang="en-US" sz="1250" dirty="0"/>
          </a:p>
          <a:p>
            <a:pPr marL="342900" indent="-342900">
              <a:lnSpc>
                <a:spcPts val="1600"/>
              </a:lnSpc>
              <a:buSzPct val="100000"/>
              <a:buChar char="•"/>
            </a:pPr>
            <a:r>
              <a:rPr lang="en-US" sz="1250" dirty="0">
                <a:solidFill>
                  <a:srgbClr val="5B6180"/>
                </a:solidFill>
                <a:latin typeface="Calibri" pitchFamily="34" charset="0"/>
                <a:ea typeface="Calibri" pitchFamily="34" charset="-122"/>
                <a:cs typeface="Calibri" pitchFamily="34" charset="-120"/>
              </a:rPr>
              <a:t>Per-attempt trace for audit</a:t>
            </a:r>
            <a:endParaRPr lang="en-US" sz="1250" dirty="0"/>
          </a:p>
        </p:txBody>
      </p:sp>
      <p:sp>
        <p:nvSpPr>
          <p:cNvPr id="8" name="Shape 6"/>
          <p:cNvSpPr/>
          <p:nvPr/>
        </p:nvSpPr>
        <p:spPr>
          <a:xfrm>
            <a:off x="6217920" y="1783080"/>
            <a:ext cx="5394960" cy="3200400"/>
          </a:xfrm>
          <a:prstGeom prst="roundRect">
            <a:avLst>
              <a:gd name="adj" fmla="val 1714"/>
            </a:avLst>
          </a:prstGeom>
          <a:solidFill>
            <a:srgbClr val="EAF2F2"/>
          </a:solidFill>
          <a:ln w="12700">
            <a:solidFill>
              <a:srgbClr val="DDE3F0"/>
            </a:solidFill>
            <a:prstDash val="solid"/>
          </a:ln>
        </p:spPr>
      </p:sp>
      <p:sp>
        <p:nvSpPr>
          <p:cNvPr id="9" name="Text 7"/>
          <p:cNvSpPr/>
          <p:nvPr/>
        </p:nvSpPr>
        <p:spPr>
          <a:xfrm>
            <a:off x="6537960" y="1993392"/>
            <a:ext cx="4754880" cy="347472"/>
          </a:xfrm>
          <a:prstGeom prst="rect">
            <a:avLst/>
          </a:prstGeom>
          <a:noFill/>
          <a:ln/>
        </p:spPr>
        <p:txBody>
          <a:bodyPr wrap="square" lIns="0" tIns="0" rIns="0" bIns="0" rtlCol="0" anchor="ctr"/>
          <a:lstStyle/>
          <a:p>
            <a:pPr marL="0" indent="0">
              <a:buNone/>
            </a:pPr>
            <a:r>
              <a:rPr lang="en-US" sz="2000" b="1" dirty="0">
                <a:solidFill>
                  <a:srgbClr val="0E7C7B"/>
                </a:solidFill>
                <a:latin typeface="Cambria" pitchFamily="34" charset="0"/>
                <a:ea typeface="Cambria" pitchFamily="34" charset="-122"/>
                <a:cs typeface="Cambria" pitchFamily="34" charset="-120"/>
              </a:rPr>
              <a:t>Scoring service</a:t>
            </a:r>
            <a:endParaRPr lang="en-US" sz="2000" dirty="0"/>
          </a:p>
        </p:txBody>
      </p:sp>
      <p:sp>
        <p:nvSpPr>
          <p:cNvPr id="10" name="Text 8"/>
          <p:cNvSpPr/>
          <p:nvPr/>
        </p:nvSpPr>
        <p:spPr>
          <a:xfrm>
            <a:off x="6537960" y="2359152"/>
            <a:ext cx="4754880" cy="256032"/>
          </a:xfrm>
          <a:prstGeom prst="rect">
            <a:avLst/>
          </a:prstGeom>
          <a:noFill/>
          <a:ln/>
        </p:spPr>
        <p:txBody>
          <a:bodyPr wrap="square" lIns="0" tIns="0" rIns="0" bIns="0" rtlCol="0" anchor="ctr"/>
          <a:lstStyle/>
          <a:p>
            <a:pPr marL="0" indent="0">
              <a:buNone/>
            </a:pPr>
            <a:r>
              <a:rPr lang="en-US" sz="1150" i="1" dirty="0">
                <a:solidFill>
                  <a:srgbClr val="8A90AB"/>
                </a:solidFill>
                <a:latin typeface="Calibri" pitchFamily="34" charset="0"/>
                <a:ea typeface="Calibri" pitchFamily="34" charset="-122"/>
                <a:cs typeface="Calibri" pitchFamily="34" charset="-120"/>
              </a:rPr>
              <a:t>Real failures in · recommended times out</a:t>
            </a:r>
            <a:endParaRPr lang="en-US" sz="1150" dirty="0"/>
          </a:p>
        </p:txBody>
      </p:sp>
      <p:sp>
        <p:nvSpPr>
          <p:cNvPr id="11" name="Text 9"/>
          <p:cNvSpPr/>
          <p:nvPr/>
        </p:nvSpPr>
        <p:spPr>
          <a:xfrm>
            <a:off x="6537960" y="2743200"/>
            <a:ext cx="4754880" cy="2194560"/>
          </a:xfrm>
          <a:prstGeom prst="rect">
            <a:avLst/>
          </a:prstGeom>
          <a:noFill/>
          <a:ln/>
        </p:spPr>
        <p:txBody>
          <a:bodyPr wrap="square" lIns="0" tIns="0" rIns="0" bIns="0" rtlCol="0" anchor="t"/>
          <a:lstStyle/>
          <a:p>
            <a:pPr marL="342900" indent="-342900">
              <a:lnSpc>
                <a:spcPts val="1600"/>
              </a:lnSpc>
              <a:spcAft>
                <a:spcPts val="800"/>
              </a:spcAft>
              <a:buSzPct val="100000"/>
              <a:buChar char="•"/>
            </a:pPr>
            <a:r>
              <a:rPr lang="en-US" sz="1250" dirty="0">
                <a:solidFill>
                  <a:srgbClr val="5B6180"/>
                </a:solidFill>
                <a:latin typeface="Calibri" pitchFamily="34" charset="0"/>
                <a:ea typeface="Calibri" pitchFamily="34" charset="-122"/>
                <a:cs typeface="Calibri" pitchFamily="34" charset="-120"/>
              </a:rPr>
              <a:t>REST: single failure or batch CSV</a:t>
            </a:r>
            <a:endParaRPr lang="en-US" sz="1250" dirty="0"/>
          </a:p>
          <a:p>
            <a:pPr marL="342900" indent="-342900">
              <a:lnSpc>
                <a:spcPts val="1600"/>
              </a:lnSpc>
              <a:spcAft>
                <a:spcPts val="800"/>
              </a:spcAft>
              <a:buSzPct val="100000"/>
              <a:buChar char="•"/>
            </a:pPr>
            <a:r>
              <a:rPr lang="en-US" sz="1250" dirty="0">
                <a:solidFill>
                  <a:srgbClr val="5B6180"/>
                </a:solidFill>
                <a:latin typeface="Calibri" pitchFamily="34" charset="0"/>
                <a:ea typeface="Calibri" pitchFamily="34" charset="-122"/>
                <a:cs typeface="Calibri" pitchFamily="34" charset="-120"/>
              </a:rPr>
              <a:t>Returns retry time, the rule that produced it, and the measured evidence for that segment</a:t>
            </a:r>
            <a:endParaRPr lang="en-US" sz="1250" dirty="0"/>
          </a:p>
          <a:p>
            <a:pPr marL="342900" indent="-342900">
              <a:lnSpc>
                <a:spcPts val="1600"/>
              </a:lnSpc>
              <a:spcAft>
                <a:spcPts val="800"/>
              </a:spcAft>
              <a:buSzPct val="100000"/>
              <a:buChar char="•"/>
            </a:pPr>
            <a:r>
              <a:rPr lang="en-US" sz="1250" dirty="0">
                <a:solidFill>
                  <a:srgbClr val="5B6180"/>
                </a:solidFill>
                <a:latin typeface="Calibri" pitchFamily="34" charset="0"/>
                <a:ea typeface="Calibri" pitchFamily="34" charset="-122"/>
                <a:cs typeface="Calibri" pitchFamily="34" charset="-120"/>
              </a:rPr>
              <a:t>Refuses rather than defaults on any field it cannot populate</a:t>
            </a:r>
            <a:endParaRPr lang="en-US" sz="1250" dirty="0"/>
          </a:p>
          <a:p>
            <a:pPr marL="342900" indent="-342900">
              <a:lnSpc>
                <a:spcPts val="1600"/>
              </a:lnSpc>
              <a:buSzPct val="100000"/>
              <a:buChar char="•"/>
            </a:pPr>
            <a:r>
              <a:rPr lang="en-US" sz="1250" dirty="0">
                <a:solidFill>
                  <a:srgbClr val="5B6180"/>
                </a:solidFill>
                <a:latin typeface="Calibri" pitchFamily="34" charset="0"/>
                <a:ea typeface="Calibri" pitchFamily="34" charset="-122"/>
                <a:cs typeface="Calibri" pitchFamily="34" charset="-120"/>
              </a:rPr>
              <a:t>Emits no success probability — there is no oracle outside the simulator</a:t>
            </a:r>
            <a:endParaRPr lang="en-US" sz="1250" dirty="0"/>
          </a:p>
        </p:txBody>
      </p:sp>
      <p:sp>
        <p:nvSpPr>
          <p:cNvPr id="12" name="Text 10"/>
          <p:cNvSpPr/>
          <p:nvPr/>
        </p:nvSpPr>
        <p:spPr>
          <a:xfrm>
            <a:off x="548640" y="5257800"/>
            <a:ext cx="11064240" cy="640080"/>
          </a:xfrm>
          <a:prstGeom prst="rect">
            <a:avLst/>
          </a:prstGeom>
          <a:noFill/>
          <a:ln/>
        </p:spPr>
        <p:txBody>
          <a:bodyPr wrap="square" lIns="0" tIns="0" rIns="0" bIns="0" rtlCol="0" anchor="ctr"/>
          <a:lstStyle/>
          <a:p>
            <a:pPr marL="0" indent="0">
              <a:lnSpc>
                <a:spcPts val="2200"/>
              </a:lnSpc>
              <a:buNone/>
            </a:pPr>
            <a:r>
              <a:rPr lang="en-US" sz="1600" b="1" dirty="0">
                <a:solidFill>
                  <a:srgbClr val="16193B"/>
                </a:solidFill>
                <a:latin typeface="Cambria" pitchFamily="34" charset="0"/>
                <a:ea typeface="Cambria" pitchFamily="34" charset="-122"/>
                <a:cs typeface="Cambria" pitchFamily="34" charset="-120"/>
              </a:rPr>
              <a:t>Read-only. No funds movement, no mandate mutation, no PII beyond a merchant-supplied reference. Execution stays entirely in the merchant's stack.</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685800"/>
          </a:xfrm>
          <a:prstGeom prst="rect">
            <a:avLst/>
          </a:prstGeom>
          <a:noFill/>
          <a:ln/>
        </p:spPr>
        <p:txBody>
          <a:bodyPr wrap="square" lIns="0" tIns="0" rIns="0" bIns="0" rtlCol="0" anchor="ctr"/>
          <a:lstStyle/>
          <a:p>
            <a:pPr marL="0" indent="0">
              <a:buNone/>
            </a:pPr>
            <a:r>
              <a:rPr lang="en-US" sz="3200" b="1" dirty="0">
                <a:solidFill>
                  <a:srgbClr val="16193B"/>
                </a:solidFill>
                <a:latin typeface="Cambria" pitchFamily="34" charset="0"/>
                <a:ea typeface="Cambria" pitchFamily="34" charset="-122"/>
                <a:cs typeface="Cambria" pitchFamily="34" charset="-120"/>
              </a:rPr>
              <a:t>What we need from you</a:t>
            </a:r>
            <a:endParaRPr lang="en-US" sz="3200" dirty="0"/>
          </a:p>
        </p:txBody>
      </p:sp>
      <p:sp>
        <p:nvSpPr>
          <p:cNvPr id="3" name="Text 1"/>
          <p:cNvSpPr/>
          <p:nvPr/>
        </p:nvSpPr>
        <p:spPr>
          <a:xfrm>
            <a:off x="548640" y="1115568"/>
            <a:ext cx="11064240" cy="365760"/>
          </a:xfrm>
          <a:prstGeom prst="rect">
            <a:avLst/>
          </a:prstGeom>
          <a:noFill/>
          <a:ln/>
        </p:spPr>
        <p:txBody>
          <a:bodyPr wrap="square" lIns="0" tIns="0" rIns="0" bIns="0" rtlCol="0" anchor="ctr"/>
          <a:lstStyle/>
          <a:p>
            <a:pPr marL="0" indent="0">
              <a:buNone/>
            </a:pPr>
            <a:r>
              <a:rPr lang="en-US" sz="1400" dirty="0">
                <a:solidFill>
                  <a:srgbClr val="5B6180"/>
                </a:solidFill>
                <a:latin typeface="Calibri" pitchFamily="34" charset="0"/>
                <a:ea typeface="Calibri" pitchFamily="34" charset="-122"/>
                <a:cs typeface="Calibri" pitchFamily="34" charset="-120"/>
              </a:rPr>
              <a:t>Two tiers. The minimum tier answers today; the extended tier unlocks the strategies that measured best.</a:t>
            </a:r>
            <a:endParaRPr lang="en-US" sz="1400" dirty="0"/>
          </a:p>
        </p:txBody>
      </p:sp>
      <p:sp>
        <p:nvSpPr>
          <p:cNvPr id="4" name="Shape 2"/>
          <p:cNvSpPr/>
          <p:nvPr/>
        </p:nvSpPr>
        <p:spPr>
          <a:xfrm>
            <a:off x="548640" y="1783080"/>
            <a:ext cx="5394960" cy="3246120"/>
          </a:xfrm>
          <a:prstGeom prst="roundRect">
            <a:avLst>
              <a:gd name="adj" fmla="val 1690"/>
            </a:avLst>
          </a:prstGeom>
          <a:solidFill>
            <a:srgbClr val="F1F4FB"/>
          </a:solidFill>
          <a:ln w="12700">
            <a:solidFill>
              <a:srgbClr val="DDE3F0"/>
            </a:solidFill>
            <a:prstDash val="solid"/>
          </a:ln>
        </p:spPr>
      </p:sp>
      <p:sp>
        <p:nvSpPr>
          <p:cNvPr id="5" name="Text 3"/>
          <p:cNvSpPr/>
          <p:nvPr/>
        </p:nvSpPr>
        <p:spPr>
          <a:xfrm>
            <a:off x="868680" y="1993392"/>
            <a:ext cx="4754880" cy="347472"/>
          </a:xfrm>
          <a:prstGeom prst="rect">
            <a:avLst/>
          </a:prstGeom>
          <a:noFill/>
          <a:ln/>
        </p:spPr>
        <p:txBody>
          <a:bodyPr wrap="square" lIns="0" tIns="0" rIns="0" bIns="0" rtlCol="0" anchor="ctr"/>
          <a:lstStyle/>
          <a:p>
            <a:pPr marL="0" indent="0">
              <a:buNone/>
            </a:pPr>
            <a:r>
              <a:rPr lang="en-US" sz="2000" b="1" dirty="0">
                <a:solidFill>
                  <a:srgbClr val="1E2761"/>
                </a:solidFill>
                <a:latin typeface="Cambria" pitchFamily="34" charset="0"/>
                <a:ea typeface="Cambria" pitchFamily="34" charset="-122"/>
                <a:cs typeface="Cambria" pitchFamily="34" charset="-120"/>
              </a:rPr>
              <a:t>Minimum tier</a:t>
            </a:r>
            <a:endParaRPr lang="en-US" sz="2000" dirty="0"/>
          </a:p>
        </p:txBody>
      </p:sp>
      <p:sp>
        <p:nvSpPr>
          <p:cNvPr id="6" name="Text 4"/>
          <p:cNvSpPr/>
          <p:nvPr/>
        </p:nvSpPr>
        <p:spPr>
          <a:xfrm>
            <a:off x="868680" y="2450592"/>
            <a:ext cx="4754880" cy="1920240"/>
          </a:xfrm>
          <a:prstGeom prst="rect">
            <a:avLst/>
          </a:prstGeom>
          <a:noFill/>
          <a:ln/>
        </p:spPr>
        <p:txBody>
          <a:bodyPr wrap="square" lIns="0" tIns="0" rIns="0" bIns="0" rtlCol="0" anchor="t"/>
          <a:lstStyle/>
          <a:p>
            <a:pPr marL="342900" indent="-342900">
              <a:lnSpc>
                <a:spcPts val="1600"/>
              </a:lnSpc>
              <a:spcAft>
                <a:spcPts val="700"/>
              </a:spcAft>
              <a:buSzPct val="100000"/>
              <a:buChar char="•"/>
            </a:pPr>
            <a:r>
              <a:rPr lang="en-US" sz="1250" dirty="0">
                <a:solidFill>
                  <a:srgbClr val="5B6180"/>
                </a:solidFill>
                <a:latin typeface="Calibri" pitchFamily="34" charset="0"/>
                <a:ea typeface="Calibri" pitchFamily="34" charset="-122"/>
                <a:cs typeface="Calibri" pitchFamily="34" charset="-120"/>
              </a:rPr>
              <a:t>Mandate reference</a:t>
            </a:r>
            <a:endParaRPr lang="en-US" sz="1250" dirty="0"/>
          </a:p>
          <a:p>
            <a:pPr marL="342900" indent="-342900">
              <a:lnSpc>
                <a:spcPts val="1600"/>
              </a:lnSpc>
              <a:spcAft>
                <a:spcPts val="700"/>
              </a:spcAft>
              <a:buSzPct val="100000"/>
              <a:buChar char="•"/>
            </a:pPr>
            <a:r>
              <a:rPr lang="en-US" sz="1250" dirty="0">
                <a:solidFill>
                  <a:srgbClr val="5B6180"/>
                </a:solidFill>
                <a:latin typeface="Calibri" pitchFamily="34" charset="0"/>
                <a:ea typeface="Calibri" pitchFamily="34" charset="-122"/>
                <a:cs typeface="Calibri" pitchFamily="34" charset="-120"/>
              </a:rPr>
              <a:t>Rail</a:t>
            </a:r>
            <a:endParaRPr lang="en-US" sz="1250" dirty="0"/>
          </a:p>
          <a:p>
            <a:pPr marL="342900" indent="-342900">
              <a:lnSpc>
                <a:spcPts val="1600"/>
              </a:lnSpc>
              <a:spcAft>
                <a:spcPts val="700"/>
              </a:spcAft>
              <a:buSzPct val="100000"/>
              <a:buChar char="•"/>
            </a:pPr>
            <a:r>
              <a:rPr lang="en-US" sz="1250" dirty="0">
                <a:solidFill>
                  <a:srgbClr val="5B6180"/>
                </a:solidFill>
                <a:latin typeface="Calibri" pitchFamily="34" charset="0"/>
                <a:ea typeface="Calibri" pitchFamily="34" charset="-122"/>
                <a:cs typeface="Calibri" pitchFamily="34" charset="-120"/>
              </a:rPr>
              <a:t>Reason code</a:t>
            </a:r>
            <a:endParaRPr lang="en-US" sz="1250" dirty="0"/>
          </a:p>
          <a:p>
            <a:pPr marL="342900" indent="-342900">
              <a:lnSpc>
                <a:spcPts val="1600"/>
              </a:lnSpc>
              <a:spcAft>
                <a:spcPts val="700"/>
              </a:spcAft>
              <a:buSzPct val="100000"/>
              <a:buChar char="•"/>
            </a:pPr>
            <a:r>
              <a:rPr lang="en-US" sz="1250" dirty="0">
                <a:solidFill>
                  <a:srgbClr val="5B6180"/>
                </a:solidFill>
                <a:latin typeface="Calibri" pitchFamily="34" charset="0"/>
                <a:ea typeface="Calibri" pitchFamily="34" charset="-122"/>
                <a:cs typeface="Calibri" pitchFamily="34" charset="-120"/>
              </a:rPr>
              <a:t>Failure timestamp</a:t>
            </a:r>
            <a:endParaRPr lang="en-US" sz="1250" dirty="0"/>
          </a:p>
          <a:p>
            <a:pPr marL="342900" indent="-342900">
              <a:lnSpc>
                <a:spcPts val="1600"/>
              </a:lnSpc>
              <a:spcAft>
                <a:spcPts val="700"/>
              </a:spcAft>
              <a:buSzPct val="100000"/>
              <a:buChar char="•"/>
            </a:pPr>
            <a:r>
              <a:rPr lang="en-US" sz="1250" dirty="0">
                <a:solidFill>
                  <a:srgbClr val="5B6180"/>
                </a:solidFill>
                <a:latin typeface="Calibri" pitchFamily="34" charset="0"/>
                <a:ea typeface="Calibri" pitchFamily="34" charset="-122"/>
                <a:cs typeface="Calibri" pitchFamily="34" charset="-120"/>
              </a:rPr>
              <a:t>Amount and mandate cap</a:t>
            </a:r>
            <a:endParaRPr lang="en-US" sz="1250" dirty="0"/>
          </a:p>
          <a:p>
            <a:pPr marL="342900" indent="-342900">
              <a:lnSpc>
                <a:spcPts val="1600"/>
              </a:lnSpc>
              <a:spcAft>
                <a:spcPts val="700"/>
              </a:spcAft>
              <a:buSzPct val="100000"/>
              <a:buChar char="•"/>
            </a:pPr>
            <a:r>
              <a:rPr lang="en-US" sz="1250" dirty="0">
                <a:solidFill>
                  <a:srgbClr val="5B6180"/>
                </a:solidFill>
                <a:latin typeface="Calibri" pitchFamily="34" charset="0"/>
                <a:ea typeface="Calibri" pitchFamily="34" charset="-122"/>
                <a:cs typeface="Calibri" pitchFamily="34" charset="-120"/>
              </a:rPr>
              <a:t>Attempt number</a:t>
            </a:r>
            <a:endParaRPr lang="en-US" sz="1250" dirty="0"/>
          </a:p>
          <a:p>
            <a:pPr marL="342900" indent="-342900">
              <a:lnSpc>
                <a:spcPts val="1600"/>
              </a:lnSpc>
              <a:spcAft>
                <a:spcPts val="700"/>
              </a:spcAft>
              <a:buSzPct val="100000"/>
              <a:buChar char="•"/>
            </a:pPr>
            <a:r>
              <a:rPr lang="en-US" sz="1250" dirty="0">
                <a:solidFill>
                  <a:srgbClr val="5B6180"/>
                </a:solidFill>
                <a:latin typeface="Calibri" pitchFamily="34" charset="0"/>
                <a:ea typeface="Calibri" pitchFamily="34" charset="-122"/>
                <a:cs typeface="Calibri" pitchFamily="34" charset="-120"/>
              </a:rPr>
              <a:t>Notification timestamp</a:t>
            </a:r>
            <a:endParaRPr lang="en-US" sz="1250" dirty="0"/>
          </a:p>
        </p:txBody>
      </p:sp>
      <p:sp>
        <p:nvSpPr>
          <p:cNvPr id="7" name="Text 5"/>
          <p:cNvSpPr/>
          <p:nvPr/>
        </p:nvSpPr>
        <p:spPr>
          <a:xfrm>
            <a:off x="868680" y="4590288"/>
            <a:ext cx="4754880" cy="411480"/>
          </a:xfrm>
          <a:prstGeom prst="rect">
            <a:avLst/>
          </a:prstGeom>
          <a:noFill/>
          <a:ln/>
        </p:spPr>
        <p:txBody>
          <a:bodyPr wrap="square" lIns="0" tIns="0" rIns="0" bIns="0" rtlCol="0" anchor="t"/>
          <a:lstStyle/>
          <a:p>
            <a:pPr marL="0" indent="0">
              <a:lnSpc>
                <a:spcPts val="1500"/>
              </a:lnSpc>
              <a:buNone/>
            </a:pPr>
            <a:r>
              <a:rPr lang="en-US" sz="1150" i="1" dirty="0">
                <a:solidFill>
                  <a:srgbClr val="1E2761"/>
                </a:solidFill>
                <a:latin typeface="Calibri" pitchFamily="34" charset="0"/>
                <a:ea typeface="Calibri" pitchFamily="34" charset="-122"/>
                <a:cs typeface="Calibri" pitchFamily="34" charset="-120"/>
              </a:rPr>
              <a:t>Serves reason-aware and baseline scheduling.</a:t>
            </a:r>
            <a:endParaRPr lang="en-US" sz="1150" dirty="0"/>
          </a:p>
        </p:txBody>
      </p:sp>
      <p:sp>
        <p:nvSpPr>
          <p:cNvPr id="8" name="Shape 6"/>
          <p:cNvSpPr/>
          <p:nvPr/>
        </p:nvSpPr>
        <p:spPr>
          <a:xfrm>
            <a:off x="6217920" y="1783080"/>
            <a:ext cx="5394960" cy="3246120"/>
          </a:xfrm>
          <a:prstGeom prst="roundRect">
            <a:avLst>
              <a:gd name="adj" fmla="val 1690"/>
            </a:avLst>
          </a:prstGeom>
          <a:solidFill>
            <a:srgbClr val="EAF2F2"/>
          </a:solidFill>
          <a:ln w="12700">
            <a:solidFill>
              <a:srgbClr val="DDE3F0"/>
            </a:solidFill>
            <a:prstDash val="solid"/>
          </a:ln>
        </p:spPr>
      </p:sp>
      <p:sp>
        <p:nvSpPr>
          <p:cNvPr id="9" name="Text 7"/>
          <p:cNvSpPr/>
          <p:nvPr/>
        </p:nvSpPr>
        <p:spPr>
          <a:xfrm>
            <a:off x="6537960" y="1993392"/>
            <a:ext cx="4754880" cy="347472"/>
          </a:xfrm>
          <a:prstGeom prst="rect">
            <a:avLst/>
          </a:prstGeom>
          <a:noFill/>
          <a:ln/>
        </p:spPr>
        <p:txBody>
          <a:bodyPr wrap="square" lIns="0" tIns="0" rIns="0" bIns="0" rtlCol="0" anchor="ctr"/>
          <a:lstStyle/>
          <a:p>
            <a:pPr marL="0" indent="0">
              <a:buNone/>
            </a:pPr>
            <a:r>
              <a:rPr lang="en-US" sz="2000" b="1" dirty="0">
                <a:solidFill>
                  <a:srgbClr val="0E7C7B"/>
                </a:solidFill>
                <a:latin typeface="Cambria" pitchFamily="34" charset="0"/>
                <a:ea typeface="Cambria" pitchFamily="34" charset="-122"/>
                <a:cs typeface="Cambria" pitchFamily="34" charset="-120"/>
              </a:rPr>
              <a:t>Extended tier</a:t>
            </a:r>
            <a:endParaRPr lang="en-US" sz="2000" dirty="0"/>
          </a:p>
        </p:txBody>
      </p:sp>
      <p:sp>
        <p:nvSpPr>
          <p:cNvPr id="10" name="Text 8"/>
          <p:cNvSpPr/>
          <p:nvPr/>
        </p:nvSpPr>
        <p:spPr>
          <a:xfrm>
            <a:off x="6537960" y="2450592"/>
            <a:ext cx="4754880" cy="1920240"/>
          </a:xfrm>
          <a:prstGeom prst="rect">
            <a:avLst/>
          </a:prstGeom>
          <a:noFill/>
          <a:ln/>
        </p:spPr>
        <p:txBody>
          <a:bodyPr wrap="square" lIns="0" tIns="0" rIns="0" bIns="0" rtlCol="0" anchor="t"/>
          <a:lstStyle/>
          <a:p>
            <a:pPr marL="342900" indent="-342900">
              <a:lnSpc>
                <a:spcPts val="1600"/>
              </a:lnSpc>
              <a:spcAft>
                <a:spcPts val="700"/>
              </a:spcAft>
              <a:buSzPct val="100000"/>
              <a:buChar char="•"/>
            </a:pPr>
            <a:r>
              <a:rPr lang="en-US" sz="1250" dirty="0">
                <a:solidFill>
                  <a:srgbClr val="5B6180"/>
                </a:solidFill>
                <a:latin typeface="Calibri" pitchFamily="34" charset="0"/>
                <a:ea typeface="Calibri" pitchFamily="34" charset="-122"/>
                <a:cs typeface="Calibri" pitchFamily="34" charset="-120"/>
              </a:rPr>
              <a:t>Everything above, plus:</a:t>
            </a:r>
            <a:endParaRPr lang="en-US" sz="1250" dirty="0"/>
          </a:p>
          <a:p>
            <a:pPr marL="342900" indent="-342900">
              <a:lnSpc>
                <a:spcPts val="1600"/>
              </a:lnSpc>
              <a:spcAft>
                <a:spcPts val="700"/>
              </a:spcAft>
              <a:buSzPct val="100000"/>
              <a:buChar char="•"/>
            </a:pPr>
            <a:r>
              <a:rPr lang="en-US" sz="1250" dirty="0">
                <a:solidFill>
                  <a:srgbClr val="5B6180"/>
                </a:solidFill>
                <a:latin typeface="Calibri" pitchFamily="34" charset="0"/>
                <a:ea typeface="Calibri" pitchFamily="34" charset="-122"/>
                <a:cs typeface="Calibri" pitchFamily="34" charset="-120"/>
              </a:rPr>
              <a:t>Bank identifier</a:t>
            </a:r>
            <a:endParaRPr lang="en-US" sz="1250" dirty="0"/>
          </a:p>
          <a:p>
            <a:pPr marL="342900" indent="-342900">
              <a:lnSpc>
                <a:spcPts val="1600"/>
              </a:lnSpc>
              <a:spcAft>
                <a:spcPts val="700"/>
              </a:spcAft>
              <a:buSzPct val="100000"/>
              <a:buChar char="•"/>
            </a:pPr>
            <a:r>
              <a:rPr lang="en-US" sz="1250" dirty="0">
                <a:solidFill>
                  <a:srgbClr val="5B6180"/>
                </a:solidFill>
                <a:latin typeface="Calibri" pitchFamily="34" charset="0"/>
                <a:ea typeface="Calibri" pitchFamily="34" charset="-122"/>
                <a:cs typeface="Calibri" pitchFamily="34" charset="-120"/>
              </a:rPr>
              <a:t>Full attempt history for the cycle</a:t>
            </a:r>
            <a:endParaRPr lang="en-US" sz="1250" dirty="0"/>
          </a:p>
          <a:p>
            <a:pPr marL="342900" indent="-342900">
              <a:lnSpc>
                <a:spcPts val="1600"/>
              </a:lnSpc>
              <a:spcAft>
                <a:spcPts val="700"/>
              </a:spcAft>
              <a:buSzPct val="100000"/>
              <a:buChar char="•"/>
            </a:pPr>
            <a:r>
              <a:rPr lang="en-US" sz="1250" dirty="0">
                <a:solidFill>
                  <a:srgbClr val="5B6180"/>
                </a:solidFill>
                <a:latin typeface="Calibri" pitchFamily="34" charset="0"/>
                <a:ea typeface="Calibri" pitchFamily="34" charset="-122"/>
                <a:cs typeface="Calibri" pitchFamily="34" charset="-120"/>
              </a:rPr>
              <a:t>Batch cutoff (eNACH)</a:t>
            </a:r>
            <a:endParaRPr lang="en-US" sz="1250" dirty="0"/>
          </a:p>
        </p:txBody>
      </p:sp>
      <p:sp>
        <p:nvSpPr>
          <p:cNvPr id="11" name="Text 9"/>
          <p:cNvSpPr/>
          <p:nvPr/>
        </p:nvSpPr>
        <p:spPr>
          <a:xfrm>
            <a:off x="6537960" y="4590288"/>
            <a:ext cx="4754880" cy="411480"/>
          </a:xfrm>
          <a:prstGeom prst="rect">
            <a:avLst/>
          </a:prstGeom>
          <a:noFill/>
          <a:ln/>
        </p:spPr>
        <p:txBody>
          <a:bodyPr wrap="square" lIns="0" tIns="0" rIns="0" bIns="0" rtlCol="0" anchor="t"/>
          <a:lstStyle/>
          <a:p>
            <a:pPr marL="0" indent="0">
              <a:lnSpc>
                <a:spcPts val="1500"/>
              </a:lnSpc>
              <a:buNone/>
            </a:pPr>
            <a:r>
              <a:rPr lang="en-US" sz="1150" i="1" dirty="0">
                <a:solidFill>
                  <a:srgbClr val="0E7C7B"/>
                </a:solidFill>
                <a:latin typeface="Calibri" pitchFamily="34" charset="0"/>
                <a:ea typeface="Calibri" pitchFamily="34" charset="-122"/>
                <a:cs typeface="Calibri" pitchFamily="34" charset="-120"/>
              </a:rPr>
              <a:t>Unlocks bank-aware and blended — the measured winners in 48% of a representative book.</a:t>
            </a:r>
            <a:endParaRPr lang="en-US" sz="1150" dirty="0"/>
          </a:p>
        </p:txBody>
      </p:sp>
      <p:sp>
        <p:nvSpPr>
          <p:cNvPr id="12" name="Shape 10"/>
          <p:cNvSpPr/>
          <p:nvPr/>
        </p:nvSpPr>
        <p:spPr>
          <a:xfrm>
            <a:off x="548640" y="5257800"/>
            <a:ext cx="11064240" cy="914400"/>
          </a:xfrm>
          <a:prstGeom prst="roundRect">
            <a:avLst>
              <a:gd name="adj" fmla="val 6000"/>
            </a:avLst>
          </a:prstGeom>
          <a:solidFill>
            <a:srgbClr val="FBF3E8"/>
          </a:solidFill>
          <a:ln w="12700">
            <a:solidFill>
              <a:srgbClr val="DDE3F0"/>
            </a:solidFill>
            <a:prstDash val="solid"/>
          </a:ln>
        </p:spPr>
      </p:sp>
      <p:sp>
        <p:nvSpPr>
          <p:cNvPr id="13" name="Text 11"/>
          <p:cNvSpPr/>
          <p:nvPr/>
        </p:nvSpPr>
        <p:spPr>
          <a:xfrm>
            <a:off x="868680" y="5440680"/>
            <a:ext cx="10424160" cy="594360"/>
          </a:xfrm>
          <a:prstGeom prst="rect">
            <a:avLst/>
          </a:prstGeom>
          <a:noFill/>
          <a:ln/>
        </p:spPr>
        <p:txBody>
          <a:bodyPr wrap="square" lIns="0" tIns="0" rIns="0" bIns="0" rtlCol="0" anchor="t"/>
          <a:lstStyle/>
          <a:p>
            <a:pPr marL="0" indent="0">
              <a:lnSpc>
                <a:spcPts val="1600"/>
              </a:lnSpc>
              <a:buNone/>
            </a:pPr>
            <a:r>
              <a:rPr lang="en-US" sz="1250" dirty="0">
                <a:solidFill>
                  <a:srgbClr val="5B6180"/>
                </a:solidFill>
                <a:latin typeface="Calibri" pitchFamily="34" charset="0"/>
                <a:ea typeface="Calibri" pitchFamily="34" charset="-122"/>
                <a:cs typeface="Calibri" pitchFamily="34" charset="-120"/>
              </a:rPr>
              <a:t>No behavioural or balance data is required to begin. Where a field is missing, the service names the strategy it could not run and the fields that would unlock it — rather than quietly returning a weaker answer.</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48640" y="502920"/>
            <a:ext cx="11064240" cy="54864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What this study does not yet establish</a:t>
            </a:r>
            <a:endParaRPr lang="en-US" sz="3200" dirty="0"/>
          </a:p>
        </p:txBody>
      </p:sp>
      <p:sp>
        <p:nvSpPr>
          <p:cNvPr id="3" name="Text 1"/>
          <p:cNvSpPr/>
          <p:nvPr/>
        </p:nvSpPr>
        <p:spPr>
          <a:xfrm>
            <a:off x="548640" y="1143000"/>
            <a:ext cx="11064240" cy="320040"/>
          </a:xfrm>
          <a:prstGeom prst="rect">
            <a:avLst/>
          </a:prstGeom>
          <a:noFill/>
          <a:ln/>
        </p:spPr>
        <p:txBody>
          <a:bodyPr wrap="square" lIns="0" tIns="0" rIns="0" bIns="0" rtlCol="0" anchor="ctr"/>
          <a:lstStyle/>
          <a:p>
            <a:pPr marL="0" indent="0">
              <a:buNone/>
            </a:pPr>
            <a:r>
              <a:rPr lang="en-US" sz="1400" dirty="0">
                <a:solidFill>
                  <a:srgbClr val="CADCFC"/>
                </a:solidFill>
                <a:latin typeface="Calibri" pitchFamily="34" charset="0"/>
                <a:ea typeface="Calibri" pitchFamily="34" charset="-122"/>
                <a:cs typeface="Calibri" pitchFamily="34" charset="-120"/>
              </a:rPr>
              <a:t>Stated in full, because a number you cannot interrogate is a number you should not act on</a:t>
            </a:r>
            <a:endParaRPr lang="en-US" sz="1400" dirty="0"/>
          </a:p>
        </p:txBody>
      </p:sp>
      <p:sp>
        <p:nvSpPr>
          <p:cNvPr id="4" name="Shape 2"/>
          <p:cNvSpPr/>
          <p:nvPr/>
        </p:nvSpPr>
        <p:spPr>
          <a:xfrm>
            <a:off x="566928" y="1856232"/>
            <a:ext cx="384048" cy="384048"/>
          </a:xfrm>
          <a:prstGeom prst="ellipse">
            <a:avLst/>
          </a:prstGeom>
          <a:solidFill>
            <a:srgbClr val="C2740A"/>
          </a:solidFill>
          <a:ln/>
        </p:spPr>
      </p:sp>
      <p:sp>
        <p:nvSpPr>
          <p:cNvPr id="5" name="Text 3"/>
          <p:cNvSpPr/>
          <p:nvPr/>
        </p:nvSpPr>
        <p:spPr>
          <a:xfrm>
            <a:off x="566928" y="1911096"/>
            <a:ext cx="384048"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Text 4"/>
          <p:cNvSpPr/>
          <p:nvPr/>
        </p:nvSpPr>
        <p:spPr>
          <a:xfrm>
            <a:off x="1143000" y="1819656"/>
            <a:ext cx="4206240" cy="457200"/>
          </a:xfrm>
          <a:prstGeom prst="rect">
            <a:avLst/>
          </a:prstGeom>
          <a:noFill/>
          <a:ln/>
        </p:spPr>
        <p:txBody>
          <a:bodyPr wrap="square" lIns="0" tIns="0" rIns="0" bIns="0" rtlCol="0" anchor="t"/>
          <a:lstStyle/>
          <a:p>
            <a:pPr marL="0" indent="0">
              <a:lnSpc>
                <a:spcPts val="1900"/>
              </a:lnSpc>
              <a:buNone/>
            </a:pPr>
            <a:r>
              <a:rPr lang="en-US" sz="1550" b="1" dirty="0">
                <a:solidFill>
                  <a:srgbClr val="CADCFC"/>
                </a:solidFill>
                <a:latin typeface="Cambria" pitchFamily="34" charset="0"/>
                <a:ea typeface="Cambria" pitchFamily="34" charset="-122"/>
                <a:cs typeface="Cambria" pitchFamily="34" charset="-120"/>
              </a:rPr>
              <a:t>Every figure is simulated</a:t>
            </a:r>
            <a:endParaRPr lang="en-US" sz="1550" dirty="0"/>
          </a:p>
        </p:txBody>
      </p:sp>
      <p:sp>
        <p:nvSpPr>
          <p:cNvPr id="7" name="Text 5"/>
          <p:cNvSpPr/>
          <p:nvPr/>
        </p:nvSpPr>
        <p:spPr>
          <a:xfrm>
            <a:off x="5577840" y="1783080"/>
            <a:ext cx="6035040" cy="914400"/>
          </a:xfrm>
          <a:prstGeom prst="rect">
            <a:avLst/>
          </a:prstGeom>
          <a:noFill/>
          <a:ln/>
        </p:spPr>
        <p:txBody>
          <a:bodyPr wrap="square" lIns="0" tIns="0" rIns="0" bIns="0" rtlCol="0" anchor="t"/>
          <a:lstStyle/>
          <a:p>
            <a:pPr marL="0" indent="0">
              <a:lnSpc>
                <a:spcPts val="1600"/>
              </a:lnSpc>
              <a:buNone/>
            </a:pPr>
            <a:r>
              <a:rPr lang="en-US" sz="1200" dirty="0">
                <a:solidFill>
                  <a:srgbClr val="C3CAE8"/>
                </a:solidFill>
                <a:latin typeface="Calibri" pitchFamily="34" charset="0"/>
                <a:ea typeface="Calibri" pitchFamily="34" charset="-122"/>
                <a:cs typeface="Calibri" pitchFamily="34" charset="-120"/>
              </a:rPr>
              <a:t>No merchant's real book has been measured. These are the outputs of a model whose assumptions are documented, not observations of your business.</a:t>
            </a:r>
            <a:endParaRPr lang="en-US" sz="1200" dirty="0"/>
          </a:p>
        </p:txBody>
      </p:sp>
      <p:sp>
        <p:nvSpPr>
          <p:cNvPr id="8" name="Shape 6"/>
          <p:cNvSpPr/>
          <p:nvPr/>
        </p:nvSpPr>
        <p:spPr>
          <a:xfrm>
            <a:off x="566928" y="2999232"/>
            <a:ext cx="384048" cy="384048"/>
          </a:xfrm>
          <a:prstGeom prst="ellipse">
            <a:avLst/>
          </a:prstGeom>
          <a:solidFill>
            <a:srgbClr val="C2740A"/>
          </a:solidFill>
          <a:ln/>
        </p:spPr>
      </p:sp>
      <p:sp>
        <p:nvSpPr>
          <p:cNvPr id="9" name="Text 7"/>
          <p:cNvSpPr/>
          <p:nvPr/>
        </p:nvSpPr>
        <p:spPr>
          <a:xfrm>
            <a:off x="566928" y="3054096"/>
            <a:ext cx="384048"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Text 8"/>
          <p:cNvSpPr/>
          <p:nvPr/>
        </p:nvSpPr>
        <p:spPr>
          <a:xfrm>
            <a:off x="1143000" y="2962656"/>
            <a:ext cx="4206240" cy="457200"/>
          </a:xfrm>
          <a:prstGeom prst="rect">
            <a:avLst/>
          </a:prstGeom>
          <a:noFill/>
          <a:ln/>
        </p:spPr>
        <p:txBody>
          <a:bodyPr wrap="square" lIns="0" tIns="0" rIns="0" bIns="0" rtlCol="0" anchor="t"/>
          <a:lstStyle/>
          <a:p>
            <a:pPr marL="0" indent="0">
              <a:lnSpc>
                <a:spcPts val="1900"/>
              </a:lnSpc>
              <a:buNone/>
            </a:pPr>
            <a:r>
              <a:rPr lang="en-US" sz="1550" b="1" dirty="0">
                <a:solidFill>
                  <a:srgbClr val="CADCFC"/>
                </a:solidFill>
                <a:latin typeface="Cambria" pitchFamily="34" charset="0"/>
                <a:ea typeface="Cambria" pitchFamily="34" charset="-122"/>
                <a:cs typeface="Cambria" pitchFamily="34" charset="-120"/>
              </a:rPr>
              <a:t>The most fragile assumptions are the least grounded</a:t>
            </a:r>
            <a:endParaRPr lang="en-US" sz="1550" dirty="0"/>
          </a:p>
        </p:txBody>
      </p:sp>
      <p:sp>
        <p:nvSpPr>
          <p:cNvPr id="11" name="Text 9"/>
          <p:cNvSpPr/>
          <p:nvPr/>
        </p:nvSpPr>
        <p:spPr>
          <a:xfrm>
            <a:off x="5577840" y="2926080"/>
            <a:ext cx="6035040" cy="914400"/>
          </a:xfrm>
          <a:prstGeom prst="rect">
            <a:avLst/>
          </a:prstGeom>
          <a:noFill/>
          <a:ln/>
        </p:spPr>
        <p:txBody>
          <a:bodyPr wrap="square" lIns="0" tIns="0" rIns="0" bIns="0" rtlCol="0" anchor="t"/>
          <a:lstStyle/>
          <a:p>
            <a:pPr marL="0" indent="0">
              <a:lnSpc>
                <a:spcPts val="1600"/>
              </a:lnSpc>
              <a:buNone/>
            </a:pPr>
            <a:r>
              <a:rPr lang="en-US" sz="1200" dirty="0">
                <a:solidFill>
                  <a:srgbClr val="C3CAE8"/>
                </a:solidFill>
                <a:latin typeface="Calibri" pitchFamily="34" charset="0"/>
                <a:ea typeface="Calibri" pitchFamily="34" charset="-122"/>
                <a:cs typeface="Calibri" pitchFamily="34" charset="-120"/>
              </a:rPr>
              <a:t>Sensitivity analysis names the balance-process parameters as the ones the conclusion depends on most — and they have no empirical basis in the current model.</a:t>
            </a:r>
            <a:endParaRPr lang="en-US" sz="1200" dirty="0"/>
          </a:p>
        </p:txBody>
      </p:sp>
      <p:sp>
        <p:nvSpPr>
          <p:cNvPr id="12" name="Shape 10"/>
          <p:cNvSpPr/>
          <p:nvPr/>
        </p:nvSpPr>
        <p:spPr>
          <a:xfrm>
            <a:off x="566928" y="4142232"/>
            <a:ext cx="384048" cy="384048"/>
          </a:xfrm>
          <a:prstGeom prst="ellipse">
            <a:avLst/>
          </a:prstGeom>
          <a:solidFill>
            <a:srgbClr val="C2740A"/>
          </a:solidFill>
          <a:ln/>
        </p:spPr>
      </p:sp>
      <p:sp>
        <p:nvSpPr>
          <p:cNvPr id="13" name="Text 11"/>
          <p:cNvSpPr/>
          <p:nvPr/>
        </p:nvSpPr>
        <p:spPr>
          <a:xfrm>
            <a:off x="566928" y="4197096"/>
            <a:ext cx="384048"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p:nvPr/>
        </p:nvSpPr>
        <p:spPr>
          <a:xfrm>
            <a:off x="1143000" y="4105656"/>
            <a:ext cx="4206240" cy="457200"/>
          </a:xfrm>
          <a:prstGeom prst="rect">
            <a:avLst/>
          </a:prstGeom>
          <a:noFill/>
          <a:ln/>
        </p:spPr>
        <p:txBody>
          <a:bodyPr wrap="square" lIns="0" tIns="0" rIns="0" bIns="0" rtlCol="0" anchor="t"/>
          <a:lstStyle/>
          <a:p>
            <a:pPr marL="0" indent="0">
              <a:lnSpc>
                <a:spcPts val="1900"/>
              </a:lnSpc>
              <a:buNone/>
            </a:pPr>
            <a:r>
              <a:rPr lang="en-US" sz="1550" b="1" dirty="0">
                <a:solidFill>
                  <a:srgbClr val="CADCFC"/>
                </a:solidFill>
                <a:latin typeface="Cambria" pitchFamily="34" charset="0"/>
                <a:ea typeface="Cambria" pitchFamily="34" charset="-122"/>
                <a:cs typeface="Cambria" pitchFamily="34" charset="-120"/>
              </a:rPr>
              <a:t>Clearing and notification rules are unverified</a:t>
            </a:r>
            <a:endParaRPr lang="en-US" sz="1550" dirty="0"/>
          </a:p>
        </p:txBody>
      </p:sp>
      <p:sp>
        <p:nvSpPr>
          <p:cNvPr id="15" name="Text 13"/>
          <p:cNvSpPr/>
          <p:nvPr/>
        </p:nvSpPr>
        <p:spPr>
          <a:xfrm>
            <a:off x="5577840" y="4069080"/>
            <a:ext cx="6035040" cy="914400"/>
          </a:xfrm>
          <a:prstGeom prst="rect">
            <a:avLst/>
          </a:prstGeom>
          <a:noFill/>
          <a:ln/>
        </p:spPr>
        <p:txBody>
          <a:bodyPr wrap="square" lIns="0" tIns="0" rIns="0" bIns="0" rtlCol="0" anchor="t"/>
          <a:lstStyle/>
          <a:p>
            <a:pPr marL="0" indent="0">
              <a:lnSpc>
                <a:spcPts val="1600"/>
              </a:lnSpc>
              <a:buNone/>
            </a:pPr>
            <a:r>
              <a:rPr lang="en-US" sz="1200" dirty="0">
                <a:solidFill>
                  <a:srgbClr val="C3CAE8"/>
                </a:solidFill>
                <a:latin typeface="Calibri" pitchFamily="34" charset="0"/>
                <a:ea typeface="Calibri" pitchFamily="34" charset="-122"/>
                <a:cs typeface="Calibri" pitchFamily="34" charset="-120"/>
              </a:rPr>
              <a:t>The rescheduling result rests on eNACH clearing calendars and pre-debit notification timing that have not been confirmed against primary regulatory sources.</a:t>
            </a:r>
            <a:endParaRPr lang="en-US" sz="1200" dirty="0"/>
          </a:p>
        </p:txBody>
      </p:sp>
      <p:sp>
        <p:nvSpPr>
          <p:cNvPr id="16" name="Shape 14"/>
          <p:cNvSpPr/>
          <p:nvPr/>
        </p:nvSpPr>
        <p:spPr>
          <a:xfrm>
            <a:off x="566928" y="5285232"/>
            <a:ext cx="384048" cy="384048"/>
          </a:xfrm>
          <a:prstGeom prst="ellipse">
            <a:avLst/>
          </a:prstGeom>
          <a:solidFill>
            <a:srgbClr val="C2740A"/>
          </a:solidFill>
          <a:ln/>
        </p:spPr>
      </p:sp>
      <p:sp>
        <p:nvSpPr>
          <p:cNvPr id="17" name="Text 15"/>
          <p:cNvSpPr/>
          <p:nvPr/>
        </p:nvSpPr>
        <p:spPr>
          <a:xfrm>
            <a:off x="566928" y="5340096"/>
            <a:ext cx="384048"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8" name="Text 16"/>
          <p:cNvSpPr/>
          <p:nvPr/>
        </p:nvSpPr>
        <p:spPr>
          <a:xfrm>
            <a:off x="1143000" y="5248656"/>
            <a:ext cx="4206240" cy="457200"/>
          </a:xfrm>
          <a:prstGeom prst="rect">
            <a:avLst/>
          </a:prstGeom>
          <a:noFill/>
          <a:ln/>
        </p:spPr>
        <p:txBody>
          <a:bodyPr wrap="square" lIns="0" tIns="0" rIns="0" bIns="0" rtlCol="0" anchor="t"/>
          <a:lstStyle/>
          <a:p>
            <a:pPr marL="0" indent="0">
              <a:lnSpc>
                <a:spcPts val="1900"/>
              </a:lnSpc>
              <a:buNone/>
            </a:pPr>
            <a:r>
              <a:rPr lang="en-US" sz="1550" b="1" dirty="0">
                <a:solidFill>
                  <a:srgbClr val="CADCFC"/>
                </a:solidFill>
                <a:latin typeface="Cambria" pitchFamily="34" charset="0"/>
                <a:ea typeface="Cambria" pitchFamily="34" charset="-122"/>
                <a:cs typeface="Cambria" pitchFamily="34" charset="-120"/>
              </a:rPr>
              <a:t>The reason-code mix is unknown until you share data</a:t>
            </a:r>
            <a:endParaRPr lang="en-US" sz="1550" dirty="0"/>
          </a:p>
        </p:txBody>
      </p:sp>
      <p:sp>
        <p:nvSpPr>
          <p:cNvPr id="19" name="Text 17"/>
          <p:cNvSpPr/>
          <p:nvPr/>
        </p:nvSpPr>
        <p:spPr>
          <a:xfrm>
            <a:off x="5577840" y="5212080"/>
            <a:ext cx="6035040" cy="914400"/>
          </a:xfrm>
          <a:prstGeom prst="rect">
            <a:avLst/>
          </a:prstGeom>
          <a:noFill/>
          <a:ln/>
        </p:spPr>
        <p:txBody>
          <a:bodyPr wrap="square" lIns="0" tIns="0" rIns="0" bIns="0" rtlCol="0" anchor="t"/>
          <a:lstStyle/>
          <a:p>
            <a:pPr marL="0" indent="0">
              <a:lnSpc>
                <a:spcPts val="1600"/>
              </a:lnSpc>
              <a:buNone/>
            </a:pPr>
            <a:r>
              <a:rPr lang="en-US" sz="1200" dirty="0">
                <a:solidFill>
                  <a:srgbClr val="C3CAE8"/>
                </a:solidFill>
                <a:latin typeface="Calibri" pitchFamily="34" charset="0"/>
                <a:ea typeface="Calibri" pitchFamily="34" charset="-122"/>
                <a:cs typeface="Calibri" pitchFamily="34" charset="-120"/>
              </a:rPr>
              <a:t>Strategy value swings 17-fold on it. Yours is the input that would move our estimate most.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685800"/>
          </a:xfrm>
          <a:prstGeom prst="rect">
            <a:avLst/>
          </a:prstGeom>
          <a:noFill/>
          <a:ln/>
        </p:spPr>
        <p:txBody>
          <a:bodyPr wrap="square" lIns="0" tIns="0" rIns="0" bIns="0" rtlCol="0" anchor="ctr"/>
          <a:lstStyle/>
          <a:p>
            <a:pPr marL="0" indent="0">
              <a:buNone/>
            </a:pPr>
            <a:r>
              <a:rPr lang="en-US" sz="3200" b="1" dirty="0">
                <a:solidFill>
                  <a:srgbClr val="16193B"/>
                </a:solidFill>
                <a:latin typeface="Cambria" pitchFamily="34" charset="0"/>
                <a:ea typeface="Cambria" pitchFamily="34" charset="-122"/>
                <a:cs typeface="Cambria" pitchFamily="34" charset="-120"/>
              </a:rPr>
              <a:t>The ask: a four-week measurement pilot</a:t>
            </a:r>
            <a:endParaRPr lang="en-US" sz="3200" dirty="0"/>
          </a:p>
        </p:txBody>
      </p:sp>
      <p:sp>
        <p:nvSpPr>
          <p:cNvPr id="3" name="Text 1"/>
          <p:cNvSpPr/>
          <p:nvPr/>
        </p:nvSpPr>
        <p:spPr>
          <a:xfrm>
            <a:off x="548640" y="1115568"/>
            <a:ext cx="11064240" cy="365760"/>
          </a:xfrm>
          <a:prstGeom prst="rect">
            <a:avLst/>
          </a:prstGeom>
          <a:noFill/>
          <a:ln/>
        </p:spPr>
        <p:txBody>
          <a:bodyPr wrap="square" lIns="0" tIns="0" rIns="0" bIns="0" rtlCol="0" anchor="ctr"/>
          <a:lstStyle/>
          <a:p>
            <a:pPr marL="0" indent="0">
              <a:buNone/>
            </a:pPr>
            <a:r>
              <a:rPr lang="en-US" sz="1400" dirty="0">
                <a:solidFill>
                  <a:srgbClr val="5B6180"/>
                </a:solidFill>
                <a:latin typeface="Calibri" pitchFamily="34" charset="0"/>
                <a:ea typeface="Calibri" pitchFamily="34" charset="-122"/>
                <a:cs typeface="Calibri" pitchFamily="34" charset="-120"/>
              </a:rPr>
              <a:t>Not a purchase. A test of whether the finding holds on your book.</a:t>
            </a:r>
            <a:endParaRPr lang="en-US" sz="1400" dirty="0"/>
          </a:p>
        </p:txBody>
      </p:sp>
      <p:sp>
        <p:nvSpPr>
          <p:cNvPr id="4" name="Shape 2"/>
          <p:cNvSpPr/>
          <p:nvPr/>
        </p:nvSpPr>
        <p:spPr>
          <a:xfrm>
            <a:off x="548640" y="1783080"/>
            <a:ext cx="2606040" cy="3017520"/>
          </a:xfrm>
          <a:prstGeom prst="roundRect">
            <a:avLst>
              <a:gd name="adj" fmla="val 2105"/>
            </a:avLst>
          </a:prstGeom>
          <a:solidFill>
            <a:srgbClr val="F6F8FC"/>
          </a:solidFill>
          <a:ln w="12700">
            <a:solidFill>
              <a:srgbClr val="DDE3F0"/>
            </a:solidFill>
            <a:prstDash val="solid"/>
          </a:ln>
        </p:spPr>
      </p:sp>
      <p:sp>
        <p:nvSpPr>
          <p:cNvPr id="5" name="Text 3"/>
          <p:cNvSpPr/>
          <p:nvPr/>
        </p:nvSpPr>
        <p:spPr>
          <a:xfrm>
            <a:off x="777240" y="1965960"/>
            <a:ext cx="2194560" cy="274320"/>
          </a:xfrm>
          <a:prstGeom prst="rect">
            <a:avLst/>
          </a:prstGeom>
          <a:noFill/>
          <a:ln/>
        </p:spPr>
        <p:txBody>
          <a:bodyPr wrap="square" lIns="0" tIns="0" rIns="0" bIns="0" rtlCol="0" anchor="ctr"/>
          <a:lstStyle/>
          <a:p>
            <a:pPr marL="0" indent="0">
              <a:buNone/>
            </a:pPr>
            <a:r>
              <a:rPr lang="en-US" sz="1100" b="1" kern="0" spc="200" dirty="0">
                <a:solidFill>
                  <a:srgbClr val="1E2761"/>
                </a:solidFill>
                <a:latin typeface="Calibri" pitchFamily="34" charset="0"/>
                <a:ea typeface="Calibri" pitchFamily="34" charset="-122"/>
                <a:cs typeface="Calibri" pitchFamily="34" charset="-120"/>
              </a:rPr>
              <a:t>Week 1</a:t>
            </a:r>
            <a:endParaRPr lang="en-US" sz="1100" dirty="0"/>
          </a:p>
        </p:txBody>
      </p:sp>
      <p:sp>
        <p:nvSpPr>
          <p:cNvPr id="6" name="Text 4"/>
          <p:cNvSpPr/>
          <p:nvPr/>
        </p:nvSpPr>
        <p:spPr>
          <a:xfrm>
            <a:off x="777240" y="2286000"/>
            <a:ext cx="2194560" cy="640080"/>
          </a:xfrm>
          <a:prstGeom prst="rect">
            <a:avLst/>
          </a:prstGeom>
          <a:noFill/>
          <a:ln/>
        </p:spPr>
        <p:txBody>
          <a:bodyPr wrap="square" lIns="0" tIns="0" rIns="0" bIns="0" rtlCol="0" anchor="t"/>
          <a:lstStyle/>
          <a:p>
            <a:pPr marL="0" indent="0">
              <a:lnSpc>
                <a:spcPts val="2100"/>
              </a:lnSpc>
              <a:buNone/>
            </a:pPr>
            <a:r>
              <a:rPr lang="en-US" sz="1700" b="1" dirty="0">
                <a:solidFill>
                  <a:srgbClr val="16193B"/>
                </a:solidFill>
                <a:latin typeface="Cambria" pitchFamily="34" charset="0"/>
                <a:ea typeface="Cambria" pitchFamily="34" charset="-122"/>
                <a:cs typeface="Cambria" pitchFamily="34" charset="-120"/>
              </a:rPr>
              <a:t>Failure export</a:t>
            </a:r>
            <a:endParaRPr lang="en-US" sz="1700" dirty="0"/>
          </a:p>
        </p:txBody>
      </p:sp>
      <p:sp>
        <p:nvSpPr>
          <p:cNvPr id="7" name="Text 5"/>
          <p:cNvSpPr/>
          <p:nvPr/>
        </p:nvSpPr>
        <p:spPr>
          <a:xfrm>
            <a:off x="777240" y="2971800"/>
            <a:ext cx="2194560" cy="1645920"/>
          </a:xfrm>
          <a:prstGeom prst="rect">
            <a:avLst/>
          </a:prstGeom>
          <a:noFill/>
          <a:ln/>
        </p:spPr>
        <p:txBody>
          <a:bodyPr wrap="square" lIns="0" tIns="0" rIns="0" bIns="0" rtlCol="0" anchor="t"/>
          <a:lstStyle/>
          <a:p>
            <a:pPr marL="0" indent="0">
              <a:lnSpc>
                <a:spcPts val="1500"/>
              </a:lnSpc>
              <a:buNone/>
            </a:pPr>
            <a:r>
              <a:rPr lang="en-US" sz="1150" dirty="0">
                <a:solidFill>
                  <a:srgbClr val="5B6180"/>
                </a:solidFill>
                <a:latin typeface="Calibri" pitchFamily="34" charset="0"/>
                <a:ea typeface="Calibri" pitchFamily="34" charset="-122"/>
                <a:cs typeface="Calibri" pitchFamily="34" charset="-120"/>
              </a:rPr>
              <a:t>A read-only extract of failed recurring debits — 90 days, minimum tier. No PII beyond your own mandate reference.</a:t>
            </a:r>
            <a:endParaRPr lang="en-US" sz="1150" dirty="0"/>
          </a:p>
        </p:txBody>
      </p:sp>
      <p:sp>
        <p:nvSpPr>
          <p:cNvPr id="8" name="Shape 6"/>
          <p:cNvSpPr/>
          <p:nvPr/>
        </p:nvSpPr>
        <p:spPr>
          <a:xfrm>
            <a:off x="3401568" y="1783080"/>
            <a:ext cx="2606040" cy="3017520"/>
          </a:xfrm>
          <a:prstGeom prst="roundRect">
            <a:avLst>
              <a:gd name="adj" fmla="val 2105"/>
            </a:avLst>
          </a:prstGeom>
          <a:solidFill>
            <a:srgbClr val="F6F8FC"/>
          </a:solidFill>
          <a:ln w="12700">
            <a:solidFill>
              <a:srgbClr val="DDE3F0"/>
            </a:solidFill>
            <a:prstDash val="solid"/>
          </a:ln>
        </p:spPr>
      </p:sp>
      <p:sp>
        <p:nvSpPr>
          <p:cNvPr id="9" name="Text 7"/>
          <p:cNvSpPr/>
          <p:nvPr/>
        </p:nvSpPr>
        <p:spPr>
          <a:xfrm>
            <a:off x="3630168" y="1965960"/>
            <a:ext cx="2194560" cy="274320"/>
          </a:xfrm>
          <a:prstGeom prst="rect">
            <a:avLst/>
          </a:prstGeom>
          <a:noFill/>
          <a:ln/>
        </p:spPr>
        <p:txBody>
          <a:bodyPr wrap="square" lIns="0" tIns="0" rIns="0" bIns="0" rtlCol="0" anchor="ctr"/>
          <a:lstStyle/>
          <a:p>
            <a:pPr marL="0" indent="0">
              <a:buNone/>
            </a:pPr>
            <a:r>
              <a:rPr lang="en-US" sz="1100" b="1" kern="0" spc="200" dirty="0">
                <a:solidFill>
                  <a:srgbClr val="1E2761"/>
                </a:solidFill>
                <a:latin typeface="Calibri" pitchFamily="34" charset="0"/>
                <a:ea typeface="Calibri" pitchFamily="34" charset="-122"/>
                <a:cs typeface="Calibri" pitchFamily="34" charset="-120"/>
              </a:rPr>
              <a:t>Week 2</a:t>
            </a:r>
            <a:endParaRPr lang="en-US" sz="1100" dirty="0"/>
          </a:p>
        </p:txBody>
      </p:sp>
      <p:sp>
        <p:nvSpPr>
          <p:cNvPr id="10" name="Text 8"/>
          <p:cNvSpPr/>
          <p:nvPr/>
        </p:nvSpPr>
        <p:spPr>
          <a:xfrm>
            <a:off x="3630168" y="2286000"/>
            <a:ext cx="2194560" cy="640080"/>
          </a:xfrm>
          <a:prstGeom prst="rect">
            <a:avLst/>
          </a:prstGeom>
          <a:noFill/>
          <a:ln/>
        </p:spPr>
        <p:txBody>
          <a:bodyPr wrap="square" lIns="0" tIns="0" rIns="0" bIns="0" rtlCol="0" anchor="t"/>
          <a:lstStyle/>
          <a:p>
            <a:pPr marL="0" indent="0">
              <a:lnSpc>
                <a:spcPts val="2100"/>
              </a:lnSpc>
              <a:buNone/>
            </a:pPr>
            <a:r>
              <a:rPr lang="en-US" sz="1700" b="1" dirty="0">
                <a:solidFill>
                  <a:srgbClr val="16193B"/>
                </a:solidFill>
                <a:latin typeface="Cambria" pitchFamily="34" charset="0"/>
                <a:ea typeface="Cambria" pitchFamily="34" charset="-122"/>
                <a:cs typeface="Cambria" pitchFamily="34" charset="-120"/>
              </a:rPr>
              <a:t>Calibration</a:t>
            </a:r>
            <a:endParaRPr lang="en-US" sz="1700" dirty="0"/>
          </a:p>
        </p:txBody>
      </p:sp>
      <p:sp>
        <p:nvSpPr>
          <p:cNvPr id="11" name="Text 9"/>
          <p:cNvSpPr/>
          <p:nvPr/>
        </p:nvSpPr>
        <p:spPr>
          <a:xfrm>
            <a:off x="3630168" y="2971800"/>
            <a:ext cx="2194560" cy="1645920"/>
          </a:xfrm>
          <a:prstGeom prst="rect">
            <a:avLst/>
          </a:prstGeom>
          <a:noFill/>
          <a:ln/>
        </p:spPr>
        <p:txBody>
          <a:bodyPr wrap="square" lIns="0" tIns="0" rIns="0" bIns="0" rtlCol="0" anchor="t"/>
          <a:lstStyle/>
          <a:p>
            <a:pPr marL="0" indent="0">
              <a:lnSpc>
                <a:spcPts val="1500"/>
              </a:lnSpc>
              <a:buNone/>
            </a:pPr>
            <a:r>
              <a:rPr lang="en-US" sz="1150" dirty="0">
                <a:solidFill>
                  <a:srgbClr val="5B6180"/>
                </a:solidFill>
                <a:latin typeface="Calibri" pitchFamily="34" charset="0"/>
                <a:ea typeface="Calibri" pitchFamily="34" charset="-122"/>
                <a:cs typeface="Calibri" pitchFamily="34" charset="-120"/>
              </a:rPr>
              <a:t>Your reason-code mix, bounce rate and rail split replace three estimated assumptions with measured ones.</a:t>
            </a:r>
            <a:endParaRPr lang="en-US" sz="1150" dirty="0"/>
          </a:p>
        </p:txBody>
      </p:sp>
      <p:sp>
        <p:nvSpPr>
          <p:cNvPr id="12" name="Shape 10"/>
          <p:cNvSpPr/>
          <p:nvPr/>
        </p:nvSpPr>
        <p:spPr>
          <a:xfrm>
            <a:off x="6254496" y="1783080"/>
            <a:ext cx="2606040" cy="3017520"/>
          </a:xfrm>
          <a:prstGeom prst="roundRect">
            <a:avLst>
              <a:gd name="adj" fmla="val 2105"/>
            </a:avLst>
          </a:prstGeom>
          <a:solidFill>
            <a:srgbClr val="F6F8FC"/>
          </a:solidFill>
          <a:ln w="12700">
            <a:solidFill>
              <a:srgbClr val="DDE3F0"/>
            </a:solidFill>
            <a:prstDash val="solid"/>
          </a:ln>
        </p:spPr>
      </p:sp>
      <p:sp>
        <p:nvSpPr>
          <p:cNvPr id="13" name="Text 11"/>
          <p:cNvSpPr/>
          <p:nvPr/>
        </p:nvSpPr>
        <p:spPr>
          <a:xfrm>
            <a:off x="6483096" y="1965960"/>
            <a:ext cx="2194560" cy="274320"/>
          </a:xfrm>
          <a:prstGeom prst="rect">
            <a:avLst/>
          </a:prstGeom>
          <a:noFill/>
          <a:ln/>
        </p:spPr>
        <p:txBody>
          <a:bodyPr wrap="square" lIns="0" tIns="0" rIns="0" bIns="0" rtlCol="0" anchor="ctr"/>
          <a:lstStyle/>
          <a:p>
            <a:pPr marL="0" indent="0">
              <a:buNone/>
            </a:pPr>
            <a:r>
              <a:rPr lang="en-US" sz="1100" b="1" kern="0" spc="200" dirty="0">
                <a:solidFill>
                  <a:srgbClr val="1E2761"/>
                </a:solidFill>
                <a:latin typeface="Calibri" pitchFamily="34" charset="0"/>
                <a:ea typeface="Calibri" pitchFamily="34" charset="-122"/>
                <a:cs typeface="Calibri" pitchFamily="34" charset="-120"/>
              </a:rPr>
              <a:t>Week 3</a:t>
            </a:r>
            <a:endParaRPr lang="en-US" sz="1100" dirty="0"/>
          </a:p>
        </p:txBody>
      </p:sp>
      <p:sp>
        <p:nvSpPr>
          <p:cNvPr id="14" name="Text 12"/>
          <p:cNvSpPr/>
          <p:nvPr/>
        </p:nvSpPr>
        <p:spPr>
          <a:xfrm>
            <a:off x="6483096" y="2286000"/>
            <a:ext cx="2194560" cy="640080"/>
          </a:xfrm>
          <a:prstGeom prst="rect">
            <a:avLst/>
          </a:prstGeom>
          <a:noFill/>
          <a:ln/>
        </p:spPr>
        <p:txBody>
          <a:bodyPr wrap="square" lIns="0" tIns="0" rIns="0" bIns="0" rtlCol="0" anchor="t"/>
          <a:lstStyle/>
          <a:p>
            <a:pPr marL="0" indent="0">
              <a:lnSpc>
                <a:spcPts val="2100"/>
              </a:lnSpc>
              <a:buNone/>
            </a:pPr>
            <a:r>
              <a:rPr lang="en-US" sz="1700" b="1" dirty="0">
                <a:solidFill>
                  <a:srgbClr val="16193B"/>
                </a:solidFill>
                <a:latin typeface="Cambria" pitchFamily="34" charset="0"/>
                <a:ea typeface="Cambria" pitchFamily="34" charset="-122"/>
                <a:cs typeface="Cambria" pitchFamily="34" charset="-120"/>
              </a:rPr>
              <a:t>Backtest</a:t>
            </a:r>
            <a:endParaRPr lang="en-US" sz="1700" dirty="0"/>
          </a:p>
        </p:txBody>
      </p:sp>
      <p:sp>
        <p:nvSpPr>
          <p:cNvPr id="15" name="Text 13"/>
          <p:cNvSpPr/>
          <p:nvPr/>
        </p:nvSpPr>
        <p:spPr>
          <a:xfrm>
            <a:off x="6483096" y="2971800"/>
            <a:ext cx="2194560" cy="1645920"/>
          </a:xfrm>
          <a:prstGeom prst="rect">
            <a:avLst/>
          </a:prstGeom>
          <a:noFill/>
          <a:ln/>
        </p:spPr>
        <p:txBody>
          <a:bodyPr wrap="square" lIns="0" tIns="0" rIns="0" bIns="0" rtlCol="0" anchor="t"/>
          <a:lstStyle/>
          <a:p>
            <a:pPr marL="0" indent="0">
              <a:lnSpc>
                <a:spcPts val="1500"/>
              </a:lnSpc>
              <a:buNone/>
            </a:pPr>
            <a:r>
              <a:rPr lang="en-US" sz="1150" dirty="0">
                <a:solidFill>
                  <a:srgbClr val="5B6180"/>
                </a:solidFill>
                <a:latin typeface="Calibri" pitchFamily="34" charset="0"/>
                <a:ea typeface="Calibri" pitchFamily="34" charset="-122"/>
                <a:cs typeface="Calibri" pitchFamily="34" charset="-120"/>
              </a:rPr>
              <a:t>How many of your retries landed outside a clearing window and were abandoned. This is measurement of your data, not simulation.</a:t>
            </a:r>
            <a:endParaRPr lang="en-US" sz="1150" dirty="0"/>
          </a:p>
        </p:txBody>
      </p:sp>
      <p:sp>
        <p:nvSpPr>
          <p:cNvPr id="16" name="Shape 14"/>
          <p:cNvSpPr/>
          <p:nvPr/>
        </p:nvSpPr>
        <p:spPr>
          <a:xfrm>
            <a:off x="9107424" y="1783080"/>
            <a:ext cx="2606040" cy="3017520"/>
          </a:xfrm>
          <a:prstGeom prst="roundRect">
            <a:avLst>
              <a:gd name="adj" fmla="val 2105"/>
            </a:avLst>
          </a:prstGeom>
          <a:solidFill>
            <a:srgbClr val="F6F8FC"/>
          </a:solidFill>
          <a:ln w="12700">
            <a:solidFill>
              <a:srgbClr val="DDE3F0"/>
            </a:solidFill>
            <a:prstDash val="solid"/>
          </a:ln>
        </p:spPr>
      </p:sp>
      <p:sp>
        <p:nvSpPr>
          <p:cNvPr id="17" name="Text 15"/>
          <p:cNvSpPr/>
          <p:nvPr/>
        </p:nvSpPr>
        <p:spPr>
          <a:xfrm>
            <a:off x="9336024" y="1965960"/>
            <a:ext cx="2194560" cy="274320"/>
          </a:xfrm>
          <a:prstGeom prst="rect">
            <a:avLst/>
          </a:prstGeom>
          <a:noFill/>
          <a:ln/>
        </p:spPr>
        <p:txBody>
          <a:bodyPr wrap="square" lIns="0" tIns="0" rIns="0" bIns="0" rtlCol="0" anchor="ctr"/>
          <a:lstStyle/>
          <a:p>
            <a:pPr marL="0" indent="0">
              <a:buNone/>
            </a:pPr>
            <a:r>
              <a:rPr lang="en-US" sz="1100" b="1" kern="0" spc="200" dirty="0">
                <a:solidFill>
                  <a:srgbClr val="1E2761"/>
                </a:solidFill>
                <a:latin typeface="Calibri" pitchFamily="34" charset="0"/>
                <a:ea typeface="Calibri" pitchFamily="34" charset="-122"/>
                <a:cs typeface="Calibri" pitchFamily="34" charset="-120"/>
              </a:rPr>
              <a:t>Week 4</a:t>
            </a:r>
            <a:endParaRPr lang="en-US" sz="1100" dirty="0"/>
          </a:p>
        </p:txBody>
      </p:sp>
      <p:sp>
        <p:nvSpPr>
          <p:cNvPr id="18" name="Text 16"/>
          <p:cNvSpPr/>
          <p:nvPr/>
        </p:nvSpPr>
        <p:spPr>
          <a:xfrm>
            <a:off x="9336024" y="2286000"/>
            <a:ext cx="2194560" cy="640080"/>
          </a:xfrm>
          <a:prstGeom prst="rect">
            <a:avLst/>
          </a:prstGeom>
          <a:noFill/>
          <a:ln/>
        </p:spPr>
        <p:txBody>
          <a:bodyPr wrap="square" lIns="0" tIns="0" rIns="0" bIns="0" rtlCol="0" anchor="t"/>
          <a:lstStyle/>
          <a:p>
            <a:pPr marL="0" indent="0">
              <a:lnSpc>
                <a:spcPts val="2100"/>
              </a:lnSpc>
              <a:buNone/>
            </a:pPr>
            <a:r>
              <a:rPr lang="en-US" sz="1700" b="1" dirty="0">
                <a:solidFill>
                  <a:srgbClr val="16193B"/>
                </a:solidFill>
                <a:latin typeface="Cambria" pitchFamily="34" charset="0"/>
                <a:ea typeface="Cambria" pitchFamily="34" charset="-122"/>
                <a:cs typeface="Cambria" pitchFamily="34" charset="-120"/>
              </a:rPr>
              <a:t>Read-out</a:t>
            </a:r>
            <a:endParaRPr lang="en-US" sz="1700" dirty="0"/>
          </a:p>
        </p:txBody>
      </p:sp>
      <p:sp>
        <p:nvSpPr>
          <p:cNvPr id="19" name="Text 17"/>
          <p:cNvSpPr/>
          <p:nvPr/>
        </p:nvSpPr>
        <p:spPr>
          <a:xfrm>
            <a:off x="9336024" y="2971800"/>
            <a:ext cx="2194560" cy="1645920"/>
          </a:xfrm>
          <a:prstGeom prst="rect">
            <a:avLst/>
          </a:prstGeom>
          <a:noFill/>
          <a:ln/>
        </p:spPr>
        <p:txBody>
          <a:bodyPr wrap="square" lIns="0" tIns="0" rIns="0" bIns="0" rtlCol="0" anchor="t"/>
          <a:lstStyle/>
          <a:p>
            <a:pPr marL="0" indent="0">
              <a:lnSpc>
                <a:spcPts val="1500"/>
              </a:lnSpc>
              <a:buNone/>
            </a:pPr>
            <a:r>
              <a:rPr lang="en-US" sz="1150" dirty="0">
                <a:solidFill>
                  <a:srgbClr val="5B6180"/>
                </a:solidFill>
                <a:latin typeface="Calibri" pitchFamily="34" charset="0"/>
                <a:ea typeface="Calibri" pitchFamily="34" charset="-122"/>
                <a:cs typeface="Calibri" pitchFamily="34" charset="-120"/>
              </a:rPr>
              <a:t>Two figures with intervals, the assumptions behind them, and a plain statement of what remains unproven.</a:t>
            </a:r>
            <a:endParaRPr lang="en-US" sz="1150" dirty="0"/>
          </a:p>
        </p:txBody>
      </p:sp>
      <p:sp>
        <p:nvSpPr>
          <p:cNvPr id="20" name="Shape 18"/>
          <p:cNvSpPr/>
          <p:nvPr/>
        </p:nvSpPr>
        <p:spPr>
          <a:xfrm>
            <a:off x="548640" y="5029200"/>
            <a:ext cx="11064240" cy="1097280"/>
          </a:xfrm>
          <a:prstGeom prst="roundRect">
            <a:avLst>
              <a:gd name="adj" fmla="val 5000"/>
            </a:avLst>
          </a:prstGeom>
          <a:solidFill>
            <a:srgbClr val="EAF2F2"/>
          </a:solidFill>
          <a:ln w="12700">
            <a:solidFill>
              <a:srgbClr val="DDE3F0"/>
            </a:solidFill>
            <a:prstDash val="solid"/>
          </a:ln>
        </p:spPr>
      </p:sp>
      <p:sp>
        <p:nvSpPr>
          <p:cNvPr id="21" name="Text 19"/>
          <p:cNvSpPr/>
          <p:nvPr/>
        </p:nvSpPr>
        <p:spPr>
          <a:xfrm>
            <a:off x="868680" y="5230368"/>
            <a:ext cx="3931920" cy="292608"/>
          </a:xfrm>
          <a:prstGeom prst="rect">
            <a:avLst/>
          </a:prstGeom>
          <a:noFill/>
          <a:ln/>
        </p:spPr>
        <p:txBody>
          <a:bodyPr wrap="square" lIns="0" tIns="0" rIns="0" bIns="0" rtlCol="0" anchor="ctr"/>
          <a:lstStyle/>
          <a:p>
            <a:pPr marL="0" indent="0">
              <a:buNone/>
            </a:pPr>
            <a:r>
              <a:rPr lang="en-US" sz="1500" b="1" dirty="0">
                <a:solidFill>
                  <a:srgbClr val="0E7C7B"/>
                </a:solidFill>
                <a:latin typeface="Cambria" pitchFamily="34" charset="0"/>
                <a:ea typeface="Cambria" pitchFamily="34" charset="-122"/>
                <a:cs typeface="Cambria" pitchFamily="34" charset="-120"/>
              </a:rPr>
              <a:t>Success criterion agreed in advance:</a:t>
            </a:r>
            <a:endParaRPr lang="en-US" sz="1500" dirty="0"/>
          </a:p>
        </p:txBody>
      </p:sp>
      <p:sp>
        <p:nvSpPr>
          <p:cNvPr id="22" name="Text 20"/>
          <p:cNvSpPr/>
          <p:nvPr/>
        </p:nvSpPr>
        <p:spPr>
          <a:xfrm>
            <a:off x="4846320" y="5230368"/>
            <a:ext cx="6492240" cy="640080"/>
          </a:xfrm>
          <a:prstGeom prst="rect">
            <a:avLst/>
          </a:prstGeom>
          <a:noFill/>
          <a:ln/>
        </p:spPr>
        <p:txBody>
          <a:bodyPr wrap="square" lIns="0" tIns="0" rIns="0" bIns="0" rtlCol="0" anchor="t"/>
          <a:lstStyle/>
          <a:p>
            <a:pPr marL="0" indent="0">
              <a:lnSpc>
                <a:spcPts val="1600"/>
              </a:lnSpc>
              <a:buNone/>
            </a:pPr>
            <a:r>
              <a:rPr lang="en-US" sz="1250" dirty="0">
                <a:solidFill>
                  <a:srgbClr val="5B6180"/>
                </a:solidFill>
                <a:latin typeface="Calibri" pitchFamily="34" charset="0"/>
                <a:ea typeface="Calibri" pitchFamily="34" charset="-122"/>
                <a:cs typeface="Calibri" pitchFamily="34" charset="-120"/>
              </a:rPr>
              <a:t>if your retries are already calendar-aware, the pilot says so and we stop. A negative result delivered honestly is worth more to both of us than a deployment built on one.</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731520" y="1371600"/>
            <a:ext cx="10515600" cy="548640"/>
          </a:xfrm>
          <a:prstGeom prst="rect">
            <a:avLst/>
          </a:prstGeom>
          <a:noFill/>
          <a:ln/>
        </p:spPr>
        <p:txBody>
          <a:bodyPr wrap="square" lIns="0" tIns="0" rIns="0" bIns="0" rtlCol="0" anchor="ctr"/>
          <a:lstStyle/>
          <a:p>
            <a:pPr marL="0" indent="0">
              <a:buNone/>
            </a:pPr>
            <a:r>
              <a:rPr lang="en-US" sz="1500" kern="0" spc="600" dirty="0">
                <a:solidFill>
                  <a:srgbClr val="CADCFC"/>
                </a:solidFill>
                <a:latin typeface="Calibri" pitchFamily="34" charset="0"/>
                <a:ea typeface="Calibri" pitchFamily="34" charset="-122"/>
                <a:cs typeface="Calibri" pitchFamily="34" charset="-120"/>
              </a:rPr>
              <a:t>What we are claiming</a:t>
            </a:r>
            <a:endParaRPr lang="en-US" sz="1500" dirty="0"/>
          </a:p>
        </p:txBody>
      </p:sp>
      <p:sp>
        <p:nvSpPr>
          <p:cNvPr id="3" name="Text 1"/>
          <p:cNvSpPr/>
          <p:nvPr/>
        </p:nvSpPr>
        <p:spPr>
          <a:xfrm>
            <a:off x="731520" y="1965960"/>
            <a:ext cx="10515600" cy="1920240"/>
          </a:xfrm>
          <a:prstGeom prst="rect">
            <a:avLst/>
          </a:prstGeom>
          <a:noFill/>
          <a:ln/>
        </p:spPr>
        <p:txBody>
          <a:bodyPr wrap="square" lIns="0" tIns="0" rIns="0" bIns="0" rtlCol="0" anchor="ctr"/>
          <a:lstStyle/>
          <a:p>
            <a:pPr marL="0" indent="0">
              <a:lnSpc>
                <a:spcPts val="4400"/>
              </a:lnSpc>
              <a:buNone/>
            </a:pPr>
            <a:r>
              <a:rPr lang="en-US" sz="3400" b="1" dirty="0">
                <a:solidFill>
                  <a:srgbClr val="FFFFFF"/>
                </a:solidFill>
                <a:latin typeface="Cambria" pitchFamily="34" charset="0"/>
                <a:ea typeface="Cambria" pitchFamily="34" charset="-122"/>
                <a:cs typeface="Cambria" pitchFamily="34" charset="-120"/>
              </a:rPr>
              <a:t>Recurring-payment recovery in India</a:t>
            </a:r>
            <a:endParaRPr lang="en-US" sz="3400" dirty="0"/>
          </a:p>
          <a:p>
            <a:pPr marL="0" indent="0">
              <a:lnSpc>
                <a:spcPts val="4400"/>
              </a:lnSpc>
              <a:buNone/>
            </a:pPr>
            <a:r>
              <a:rPr lang="en-US" sz="3400" b="1" dirty="0">
                <a:solidFill>
                  <a:srgbClr val="FFFFFF"/>
                </a:solidFill>
                <a:latin typeface="Cambria" pitchFamily="34" charset="0"/>
                <a:ea typeface="Cambria" pitchFamily="34" charset="-122"/>
                <a:cs typeface="Cambria" pitchFamily="34" charset="-120"/>
              </a:rPr>
              <a:t>is a scheduling problem before it is</a:t>
            </a:r>
            <a:endParaRPr lang="en-US" sz="3400" dirty="0"/>
          </a:p>
          <a:p>
            <a:pPr marL="0" indent="0">
              <a:lnSpc>
                <a:spcPts val="4400"/>
              </a:lnSpc>
              <a:buNone/>
            </a:pPr>
            <a:r>
              <a:rPr lang="en-US" sz="3400" b="1" dirty="0">
                <a:solidFill>
                  <a:srgbClr val="FFFFFF"/>
                </a:solidFill>
                <a:latin typeface="Cambria" pitchFamily="34" charset="0"/>
                <a:ea typeface="Cambria" pitchFamily="34" charset="-122"/>
                <a:cs typeface="Cambria" pitchFamily="34" charset="-120"/>
              </a:rPr>
              <a:t>an intelligence problem.</a:t>
            </a:r>
            <a:endParaRPr lang="en-US" sz="3400" dirty="0"/>
          </a:p>
        </p:txBody>
      </p:sp>
      <p:sp>
        <p:nvSpPr>
          <p:cNvPr id="4" name="Text 2"/>
          <p:cNvSpPr/>
          <p:nvPr/>
        </p:nvSpPr>
        <p:spPr>
          <a:xfrm>
            <a:off x="731520" y="4069080"/>
            <a:ext cx="9875520" cy="822960"/>
          </a:xfrm>
          <a:prstGeom prst="rect">
            <a:avLst/>
          </a:prstGeom>
          <a:noFill/>
          <a:ln/>
        </p:spPr>
        <p:txBody>
          <a:bodyPr wrap="square" lIns="0" tIns="0" rIns="0" bIns="0" rtlCol="0" anchor="ctr"/>
          <a:lstStyle/>
          <a:p>
            <a:pPr marL="0" indent="0">
              <a:lnSpc>
                <a:spcPts val="2100"/>
              </a:lnSpc>
              <a:buNone/>
            </a:pPr>
            <a:r>
              <a:rPr lang="en-US" sz="1500" dirty="0">
                <a:solidFill>
                  <a:srgbClr val="CADCFC"/>
                </a:solidFill>
                <a:latin typeface="Calibri" pitchFamily="34" charset="0"/>
                <a:ea typeface="Calibri" pitchFamily="34" charset="-122"/>
                <a:cs typeface="Calibri" pitchFamily="34" charset="-120"/>
              </a:rPr>
              <a:t>We have a rigorous model that says so, an honest account of what it rests on, and a four-week test that would replace the model with measurement.</a:t>
            </a:r>
            <a:endParaRPr lang="en-US" sz="1500" dirty="0"/>
          </a:p>
        </p:txBody>
      </p:sp>
      <p:sp>
        <p:nvSpPr>
          <p:cNvPr id="5" name="Shape 3"/>
          <p:cNvSpPr/>
          <p:nvPr/>
        </p:nvSpPr>
        <p:spPr>
          <a:xfrm>
            <a:off x="777240" y="5120640"/>
            <a:ext cx="1280160" cy="27432"/>
          </a:xfrm>
          <a:prstGeom prst="rect">
            <a:avLst/>
          </a:prstGeom>
          <a:solidFill>
            <a:srgbClr val="CADCFC"/>
          </a:solidFill>
          <a:ln/>
        </p:spPr>
      </p:sp>
      <p:sp>
        <p:nvSpPr>
          <p:cNvPr id="6" name="Text 4"/>
          <p:cNvSpPr/>
          <p:nvPr/>
        </p:nvSpPr>
        <p:spPr>
          <a:xfrm>
            <a:off x="731520" y="5349240"/>
            <a:ext cx="9144000" cy="365760"/>
          </a:xfrm>
          <a:prstGeom prst="rect">
            <a:avLst/>
          </a:prstGeom>
          <a:noFill/>
          <a:ln/>
        </p:spPr>
        <p:txBody>
          <a:bodyPr wrap="square" lIns="0" tIns="0" rIns="0" bIns="0" rtlCol="0" anchor="ctr"/>
          <a:lstStyle/>
          <a:p>
            <a:pPr marL="0" indent="0">
              <a:buNone/>
            </a:pPr>
            <a:r>
              <a:rPr lang="en-US" sz="1700" b="1" i="1" dirty="0">
                <a:solidFill>
                  <a:srgbClr val="FFFFFF"/>
                </a:solidFill>
                <a:latin typeface="Cambria" pitchFamily="34" charset="0"/>
                <a:ea typeface="Cambria" pitchFamily="34" charset="-122"/>
                <a:cs typeface="Cambria" pitchFamily="34" charset="-120"/>
              </a:rPr>
              <a:t>The next step is your data, not our code.</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F3D5D33-5834-44C4-9C6B-32F6DDC97B47}"/>
              </a:ext>
            </a:extLst>
          </p:cNvPr>
          <p:cNvPicPr>
            <a:picLocks noChangeAspect="1"/>
          </p:cNvPicPr>
          <p:nvPr/>
        </p:nvPicPr>
        <p:blipFill>
          <a:blip r:embed="rId2"/>
          <a:stretch>
            <a:fillRect/>
          </a:stretch>
        </p:blipFill>
        <p:spPr>
          <a:xfrm>
            <a:off x="420285" y="456516"/>
            <a:ext cx="10039866" cy="4153113"/>
          </a:xfrm>
          <a:prstGeom prst="rect">
            <a:avLst/>
          </a:prstGeom>
        </p:spPr>
      </p:pic>
      <p:sp>
        <p:nvSpPr>
          <p:cNvPr id="4" name="TextBox 3">
            <a:extLst>
              <a:ext uri="{FF2B5EF4-FFF2-40B4-BE49-F238E27FC236}">
                <a16:creationId xmlns:a16="http://schemas.microsoft.com/office/drawing/2014/main" id="{28FA88C5-9928-4126-AAFF-E765169F1687}"/>
              </a:ext>
            </a:extLst>
          </p:cNvPr>
          <p:cNvSpPr txBox="1"/>
          <p:nvPr/>
        </p:nvSpPr>
        <p:spPr>
          <a:xfrm>
            <a:off x="420285" y="87184"/>
            <a:ext cx="1147430" cy="369332"/>
          </a:xfrm>
          <a:prstGeom prst="rect">
            <a:avLst/>
          </a:prstGeom>
          <a:noFill/>
        </p:spPr>
        <p:txBody>
          <a:bodyPr wrap="none" rtlCol="0">
            <a:spAutoFit/>
          </a:bodyPr>
          <a:lstStyle/>
          <a:p>
            <a:r>
              <a:rPr lang="en-IN" dirty="0"/>
              <a:t>Test Run 1</a:t>
            </a:r>
          </a:p>
        </p:txBody>
      </p:sp>
    </p:spTree>
    <p:extLst>
      <p:ext uri="{BB962C8B-B14F-4D97-AF65-F5344CB8AC3E}">
        <p14:creationId xmlns:p14="http://schemas.microsoft.com/office/powerpoint/2010/main" val="17006578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65CF3CA-32CC-44C0-B36D-0CF0C9D20381}"/>
              </a:ext>
            </a:extLst>
          </p:cNvPr>
          <p:cNvPicPr>
            <a:picLocks noChangeAspect="1"/>
          </p:cNvPicPr>
          <p:nvPr/>
        </p:nvPicPr>
        <p:blipFill>
          <a:blip r:embed="rId2"/>
          <a:stretch>
            <a:fillRect/>
          </a:stretch>
        </p:blipFill>
        <p:spPr>
          <a:xfrm>
            <a:off x="387965" y="380574"/>
            <a:ext cx="9735050" cy="5302523"/>
          </a:xfrm>
          <a:prstGeom prst="rect">
            <a:avLst/>
          </a:prstGeom>
        </p:spPr>
      </p:pic>
      <p:sp>
        <p:nvSpPr>
          <p:cNvPr id="4" name="TextBox 3">
            <a:extLst>
              <a:ext uri="{FF2B5EF4-FFF2-40B4-BE49-F238E27FC236}">
                <a16:creationId xmlns:a16="http://schemas.microsoft.com/office/drawing/2014/main" id="{DE232870-807E-422F-89E5-879D3C3F4408}"/>
              </a:ext>
            </a:extLst>
          </p:cNvPr>
          <p:cNvSpPr txBox="1"/>
          <p:nvPr/>
        </p:nvSpPr>
        <p:spPr>
          <a:xfrm>
            <a:off x="420285" y="87184"/>
            <a:ext cx="1147430" cy="369332"/>
          </a:xfrm>
          <a:prstGeom prst="rect">
            <a:avLst/>
          </a:prstGeom>
          <a:noFill/>
        </p:spPr>
        <p:txBody>
          <a:bodyPr wrap="none" rtlCol="0">
            <a:spAutoFit/>
          </a:bodyPr>
          <a:lstStyle/>
          <a:p>
            <a:r>
              <a:rPr lang="en-IN" dirty="0"/>
              <a:t>Test Run 1</a:t>
            </a:r>
          </a:p>
        </p:txBody>
      </p:sp>
    </p:spTree>
    <p:extLst>
      <p:ext uri="{BB962C8B-B14F-4D97-AF65-F5344CB8AC3E}">
        <p14:creationId xmlns:p14="http://schemas.microsoft.com/office/powerpoint/2010/main" val="28672618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E1CE808-F29E-43D3-8716-A8AE424A5F71}"/>
              </a:ext>
            </a:extLst>
          </p:cNvPr>
          <p:cNvPicPr>
            <a:picLocks noChangeAspect="1"/>
          </p:cNvPicPr>
          <p:nvPr/>
        </p:nvPicPr>
        <p:blipFill>
          <a:blip r:embed="rId2"/>
          <a:stretch>
            <a:fillRect/>
          </a:stretch>
        </p:blipFill>
        <p:spPr>
          <a:xfrm>
            <a:off x="346683" y="329520"/>
            <a:ext cx="10020815" cy="4000706"/>
          </a:xfrm>
          <a:prstGeom prst="rect">
            <a:avLst/>
          </a:prstGeom>
        </p:spPr>
      </p:pic>
      <p:sp>
        <p:nvSpPr>
          <p:cNvPr id="4" name="TextBox 3">
            <a:extLst>
              <a:ext uri="{FF2B5EF4-FFF2-40B4-BE49-F238E27FC236}">
                <a16:creationId xmlns:a16="http://schemas.microsoft.com/office/drawing/2014/main" id="{3891BAC0-7F7A-4682-88DD-7809AC04144E}"/>
              </a:ext>
            </a:extLst>
          </p:cNvPr>
          <p:cNvSpPr txBox="1"/>
          <p:nvPr/>
        </p:nvSpPr>
        <p:spPr>
          <a:xfrm>
            <a:off x="420285" y="87184"/>
            <a:ext cx="1147430" cy="369332"/>
          </a:xfrm>
          <a:prstGeom prst="rect">
            <a:avLst/>
          </a:prstGeom>
          <a:noFill/>
        </p:spPr>
        <p:txBody>
          <a:bodyPr wrap="none" rtlCol="0">
            <a:spAutoFit/>
          </a:bodyPr>
          <a:lstStyle/>
          <a:p>
            <a:r>
              <a:rPr lang="en-IN" dirty="0"/>
              <a:t>Test Run 2</a:t>
            </a:r>
          </a:p>
        </p:txBody>
      </p:sp>
    </p:spTree>
    <p:extLst>
      <p:ext uri="{BB962C8B-B14F-4D97-AF65-F5344CB8AC3E}">
        <p14:creationId xmlns:p14="http://schemas.microsoft.com/office/powerpoint/2010/main" val="14286707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C34F797-B37B-48B8-A50D-7672AF380141}"/>
              </a:ext>
            </a:extLst>
          </p:cNvPr>
          <p:cNvPicPr>
            <a:picLocks noChangeAspect="1"/>
          </p:cNvPicPr>
          <p:nvPr/>
        </p:nvPicPr>
        <p:blipFill>
          <a:blip r:embed="rId2"/>
          <a:stretch>
            <a:fillRect/>
          </a:stretch>
        </p:blipFill>
        <p:spPr>
          <a:xfrm>
            <a:off x="337158" y="376848"/>
            <a:ext cx="10039866" cy="4330923"/>
          </a:xfrm>
          <a:prstGeom prst="rect">
            <a:avLst/>
          </a:prstGeom>
        </p:spPr>
      </p:pic>
      <p:sp>
        <p:nvSpPr>
          <p:cNvPr id="4" name="TextBox 3">
            <a:extLst>
              <a:ext uri="{FF2B5EF4-FFF2-40B4-BE49-F238E27FC236}">
                <a16:creationId xmlns:a16="http://schemas.microsoft.com/office/drawing/2014/main" id="{290D7BF8-68E2-4856-9A1F-FF14832024FB}"/>
              </a:ext>
            </a:extLst>
          </p:cNvPr>
          <p:cNvSpPr txBox="1"/>
          <p:nvPr/>
        </p:nvSpPr>
        <p:spPr>
          <a:xfrm>
            <a:off x="420285" y="87184"/>
            <a:ext cx="1147430" cy="369332"/>
          </a:xfrm>
          <a:prstGeom prst="rect">
            <a:avLst/>
          </a:prstGeom>
          <a:noFill/>
        </p:spPr>
        <p:txBody>
          <a:bodyPr wrap="none" rtlCol="0">
            <a:spAutoFit/>
          </a:bodyPr>
          <a:lstStyle/>
          <a:p>
            <a:r>
              <a:rPr lang="en-IN" dirty="0"/>
              <a:t>Test Run 2</a:t>
            </a:r>
          </a:p>
        </p:txBody>
      </p:sp>
    </p:spTree>
    <p:extLst>
      <p:ext uri="{BB962C8B-B14F-4D97-AF65-F5344CB8AC3E}">
        <p14:creationId xmlns:p14="http://schemas.microsoft.com/office/powerpoint/2010/main" val="33888196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8511866-4522-40B0-ACCC-1333173B0D32}"/>
              </a:ext>
            </a:extLst>
          </p:cNvPr>
          <p:cNvPicPr>
            <a:picLocks noChangeAspect="1"/>
          </p:cNvPicPr>
          <p:nvPr/>
        </p:nvPicPr>
        <p:blipFill>
          <a:blip r:embed="rId2"/>
          <a:stretch>
            <a:fillRect/>
          </a:stretch>
        </p:blipFill>
        <p:spPr>
          <a:xfrm>
            <a:off x="338893" y="426756"/>
            <a:ext cx="9925560" cy="5302523"/>
          </a:xfrm>
          <a:prstGeom prst="rect">
            <a:avLst/>
          </a:prstGeom>
        </p:spPr>
      </p:pic>
      <p:sp>
        <p:nvSpPr>
          <p:cNvPr id="4" name="TextBox 3">
            <a:extLst>
              <a:ext uri="{FF2B5EF4-FFF2-40B4-BE49-F238E27FC236}">
                <a16:creationId xmlns:a16="http://schemas.microsoft.com/office/drawing/2014/main" id="{DE1C2325-DE34-4E32-950F-E10B950E8C2E}"/>
              </a:ext>
            </a:extLst>
          </p:cNvPr>
          <p:cNvSpPr txBox="1"/>
          <p:nvPr/>
        </p:nvSpPr>
        <p:spPr>
          <a:xfrm>
            <a:off x="420285" y="87184"/>
            <a:ext cx="1147430" cy="369332"/>
          </a:xfrm>
          <a:prstGeom prst="rect">
            <a:avLst/>
          </a:prstGeom>
          <a:noFill/>
        </p:spPr>
        <p:txBody>
          <a:bodyPr wrap="none" rtlCol="0">
            <a:spAutoFit/>
          </a:bodyPr>
          <a:lstStyle/>
          <a:p>
            <a:r>
              <a:rPr lang="en-IN" dirty="0"/>
              <a:t>Test Run 2</a:t>
            </a:r>
          </a:p>
        </p:txBody>
      </p:sp>
    </p:spTree>
    <p:extLst>
      <p:ext uri="{BB962C8B-B14F-4D97-AF65-F5344CB8AC3E}">
        <p14:creationId xmlns:p14="http://schemas.microsoft.com/office/powerpoint/2010/main" val="37591718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1679</TotalTime>
  <Words>2234</Words>
  <Application>Microsoft Office PowerPoint</Application>
  <PresentationFormat>Widescreen</PresentationFormat>
  <Paragraphs>224</Paragraphs>
  <Slides>19</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Rebound — Recurring Payment Recovery</dc:title>
  <dc:subject>PptxGenJS Presentation</dc:subject>
  <dc:creator>Rebound</dc:creator>
  <cp:lastModifiedBy>Karthik Rao</cp:lastModifiedBy>
  <cp:revision>5</cp:revision>
  <dcterms:created xsi:type="dcterms:W3CDTF">2026-08-06T13:51:55Z</dcterms:created>
  <dcterms:modified xsi:type="dcterms:W3CDTF">2026-08-07T18:10:07Z</dcterms:modified>
</cp:coreProperties>
</file>